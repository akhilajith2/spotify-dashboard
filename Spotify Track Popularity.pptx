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Poppins"/>
      <p:regular r:id="rId27"/>
      <p:bold r:id="rId28"/>
      <p:italic r:id="rId29"/>
      <p:boldItalic r:id="rId30"/>
    </p:embeddedFont>
    <p:embeddedFont>
      <p:font typeface="Poppins Light"/>
      <p:regular r:id="rId31"/>
      <p:bold r:id="rId32"/>
      <p:italic r:id="rId33"/>
      <p:boldItalic r:id="rId34"/>
    </p:embeddedFont>
    <p:embeddedFont>
      <p:font typeface="Poppi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regular.fntdata"/><Relationship Id="rId30" Type="http://schemas.openxmlformats.org/officeDocument/2006/relationships/font" Target="fonts/Poppins-boldItalic.fntdata"/><Relationship Id="rId11" Type="http://schemas.openxmlformats.org/officeDocument/2006/relationships/slide" Target="slides/slide5.xml"/><Relationship Id="rId33" Type="http://schemas.openxmlformats.org/officeDocument/2006/relationships/font" Target="fonts/PoppinsLight-italic.fntdata"/><Relationship Id="rId10" Type="http://schemas.openxmlformats.org/officeDocument/2006/relationships/slide" Target="slides/slide4.xml"/><Relationship Id="rId32" Type="http://schemas.openxmlformats.org/officeDocument/2006/relationships/font" Target="fonts/PoppinsLight-bold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regular.fntdata"/><Relationship Id="rId12" Type="http://schemas.openxmlformats.org/officeDocument/2006/relationships/slide" Target="slides/slide6.xml"/><Relationship Id="rId34" Type="http://schemas.openxmlformats.org/officeDocument/2006/relationships/font" Target="fonts/PoppinsLight-boldItalic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Poppins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0f366844bd_2_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0f366844bd_2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22bec74f1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922bec74f1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22bec74f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22bec74f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f366844bd_2_1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0f366844bd_2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22bec74f1_0_4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922bec74f1_0_4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0f366844bd_2_2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0f366844bd_2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22bec74f1_0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922bec74f1_0_3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22bec74f1_0_4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22bec74f1_0_4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22bec74f1_0_4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922bec74f1_0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22bec74f1_0_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22bec74f1_0_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22bec74f1_0_4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922bec74f1_0_4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22bec74f1_0_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22bec74f1_0_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22bec74f1_0_4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922bec74f1_0_4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22bec74f1_0_4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922bec74f1_0_4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922bec74f1_0_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922bec74f1_0_4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483d4f9d6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b483d4f9d6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49c74eb1a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b49c74eb1a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49c74eb1a_0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b49c74eb1a_0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49c74eb1a_0_3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b49c74eb1a_0_3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366844bd_2_5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0f366844bd_2_5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 SemiBold"/>
              <a:buNone/>
              <a:defRPr b="0" i="0" sz="45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6" name="Google Shape;56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>
            <p:ph idx="2" type="pic"/>
          </p:nvPr>
        </p:nvSpPr>
        <p:spPr>
          <a:xfrm>
            <a:off x="5640881" y="568793"/>
            <a:ext cx="2934477" cy="40059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>
            <p:ph idx="2" type="pic"/>
          </p:nvPr>
        </p:nvSpPr>
        <p:spPr>
          <a:xfrm>
            <a:off x="1575197" y="1541404"/>
            <a:ext cx="1656254" cy="1851878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7"/>
          <p:cNvSpPr/>
          <p:nvPr>
            <p:ph idx="3" type="pic"/>
          </p:nvPr>
        </p:nvSpPr>
        <p:spPr>
          <a:xfrm>
            <a:off x="4143922" y="1541403"/>
            <a:ext cx="1656254" cy="1851878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/>
          <p:nvPr>
            <p:ph idx="4" type="pic"/>
          </p:nvPr>
        </p:nvSpPr>
        <p:spPr>
          <a:xfrm>
            <a:off x="6728163" y="1541403"/>
            <a:ext cx="1656254" cy="185187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/>
          <p:nvPr>
            <p:ph idx="2" type="pic"/>
          </p:nvPr>
        </p:nvSpPr>
        <p:spPr>
          <a:xfrm>
            <a:off x="1463680" y="1469572"/>
            <a:ext cx="880098" cy="880098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8"/>
          <p:cNvSpPr/>
          <p:nvPr>
            <p:ph idx="3" type="pic"/>
          </p:nvPr>
        </p:nvSpPr>
        <p:spPr>
          <a:xfrm>
            <a:off x="2477725" y="1469572"/>
            <a:ext cx="880098" cy="880098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8"/>
          <p:cNvSpPr/>
          <p:nvPr>
            <p:ph idx="4" type="pic"/>
          </p:nvPr>
        </p:nvSpPr>
        <p:spPr>
          <a:xfrm>
            <a:off x="3491771" y="1469572"/>
            <a:ext cx="880098" cy="880098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/>
          <p:nvPr>
            <p:ph idx="5" type="pic"/>
          </p:nvPr>
        </p:nvSpPr>
        <p:spPr>
          <a:xfrm>
            <a:off x="4505816" y="1469572"/>
            <a:ext cx="880098" cy="880098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8"/>
          <p:cNvSpPr/>
          <p:nvPr>
            <p:ph idx="6" type="pic"/>
          </p:nvPr>
        </p:nvSpPr>
        <p:spPr>
          <a:xfrm>
            <a:off x="5519861" y="1469572"/>
            <a:ext cx="880098" cy="880098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8"/>
          <p:cNvSpPr/>
          <p:nvPr>
            <p:ph idx="7" type="pic"/>
          </p:nvPr>
        </p:nvSpPr>
        <p:spPr>
          <a:xfrm>
            <a:off x="6235304" y="745660"/>
            <a:ext cx="220371" cy="220598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8"/>
          <p:cNvSpPr/>
          <p:nvPr>
            <p:ph idx="8" type="pic"/>
          </p:nvPr>
        </p:nvSpPr>
        <p:spPr>
          <a:xfrm>
            <a:off x="6920844" y="926254"/>
            <a:ext cx="1486160" cy="1871897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8"/>
          <p:cNvSpPr/>
          <p:nvPr>
            <p:ph idx="9" type="pic"/>
          </p:nvPr>
        </p:nvSpPr>
        <p:spPr>
          <a:xfrm>
            <a:off x="7008724" y="4006344"/>
            <a:ext cx="320040" cy="32004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8"/>
          <p:cNvSpPr/>
          <p:nvPr>
            <p:ph idx="13" type="pic"/>
          </p:nvPr>
        </p:nvSpPr>
        <p:spPr>
          <a:xfrm>
            <a:off x="1463681" y="3455093"/>
            <a:ext cx="1605705" cy="8908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8"/>
          <p:cNvSpPr/>
          <p:nvPr>
            <p:ph idx="14" type="pic"/>
          </p:nvPr>
        </p:nvSpPr>
        <p:spPr>
          <a:xfrm>
            <a:off x="3164989" y="3455093"/>
            <a:ext cx="1605705" cy="8908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8"/>
          <p:cNvSpPr/>
          <p:nvPr>
            <p:ph idx="15" type="pic"/>
          </p:nvPr>
        </p:nvSpPr>
        <p:spPr>
          <a:xfrm>
            <a:off x="4866299" y="3455093"/>
            <a:ext cx="1605705" cy="89082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/>
          <p:nvPr>
            <p:ph idx="2" type="pic"/>
          </p:nvPr>
        </p:nvSpPr>
        <p:spPr>
          <a:xfrm>
            <a:off x="1246275" y="568792"/>
            <a:ext cx="7314797" cy="287737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b="0" i="0" sz="4500" u="none" cap="none" strike="noStrike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9pPr>
          </a:lstStyle>
          <a:p/>
        </p:txBody>
      </p:sp>
      <p:sp>
        <p:nvSpPr>
          <p:cNvPr id="85" name="Google Shape;85;p20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6" name="Google Shape;8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7" name="Google Shape;8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 Light"/>
              <a:buNone/>
              <a:defRPr b="0" i="0" sz="1400" u="none" cap="none" strike="noStrik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 Light"/>
              <a:buNone/>
              <a:def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256532" y="257517"/>
            <a:ext cx="8630939" cy="4629453"/>
          </a:xfrm>
          <a:custGeom>
            <a:rect b="b" l="l" r="r" t="t"/>
            <a:pathLst>
              <a:path extrusionOk="0" h="6172604" w="11592550">
                <a:moveTo>
                  <a:pt x="11290565" y="6172605"/>
                </a:moveTo>
                <a:lnTo>
                  <a:pt x="301985" y="6172605"/>
                </a:lnTo>
                <a:cubicBezTo>
                  <a:pt x="136189" y="6172605"/>
                  <a:pt x="0" y="6037073"/>
                  <a:pt x="0" y="5870620"/>
                </a:cubicBezTo>
                <a:lnTo>
                  <a:pt x="0" y="301985"/>
                </a:lnTo>
                <a:cubicBezTo>
                  <a:pt x="0" y="136189"/>
                  <a:pt x="136189" y="0"/>
                  <a:pt x="301985" y="0"/>
                </a:cubicBezTo>
                <a:lnTo>
                  <a:pt x="11290565" y="0"/>
                </a:lnTo>
                <a:cubicBezTo>
                  <a:pt x="11457019" y="0"/>
                  <a:pt x="11592550" y="136189"/>
                  <a:pt x="11592550" y="301985"/>
                </a:cubicBezTo>
                <a:lnTo>
                  <a:pt x="11592550" y="5870620"/>
                </a:lnTo>
                <a:cubicBezTo>
                  <a:pt x="11592550" y="6037073"/>
                  <a:pt x="11456361" y="6172605"/>
                  <a:pt x="11290565" y="6172605"/>
                </a:cubicBezTo>
                <a:close/>
              </a:path>
            </a:pathLst>
          </a:custGeom>
          <a:solidFill>
            <a:srgbClr val="0F0F0F"/>
          </a:solidFill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2" name="Google Shape;52;p13"/>
          <p:cNvSpPr/>
          <p:nvPr/>
        </p:nvSpPr>
        <p:spPr>
          <a:xfrm>
            <a:off x="763630" y="4850456"/>
            <a:ext cx="7616740" cy="36514"/>
          </a:xfrm>
          <a:custGeom>
            <a:rect b="b" l="l" r="r" t="t"/>
            <a:pathLst>
              <a:path extrusionOk="0" h="48686" w="10155653">
                <a:moveTo>
                  <a:pt x="10132626" y="48686"/>
                </a:moveTo>
                <a:lnTo>
                  <a:pt x="23027" y="48686"/>
                </a:lnTo>
                <a:cubicBezTo>
                  <a:pt x="10527" y="48686"/>
                  <a:pt x="0" y="38159"/>
                  <a:pt x="0" y="25659"/>
                </a:cubicBezTo>
                <a:lnTo>
                  <a:pt x="0" y="23027"/>
                </a:lnTo>
                <a:cubicBezTo>
                  <a:pt x="0" y="10527"/>
                  <a:pt x="10527" y="0"/>
                  <a:pt x="23027" y="0"/>
                </a:cubicBezTo>
                <a:lnTo>
                  <a:pt x="10132626" y="0"/>
                </a:lnTo>
                <a:cubicBezTo>
                  <a:pt x="10145126" y="0"/>
                  <a:pt x="10155653" y="10527"/>
                  <a:pt x="10155653" y="23027"/>
                </a:cubicBezTo>
                <a:lnTo>
                  <a:pt x="10155653" y="25659"/>
                </a:lnTo>
                <a:cubicBezTo>
                  <a:pt x="10155653" y="38817"/>
                  <a:pt x="10145126" y="48686"/>
                  <a:pt x="10132626" y="486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/>
          <p:nvPr/>
        </p:nvSpPr>
        <p:spPr>
          <a:xfrm>
            <a:off x="1760207" y="1728836"/>
            <a:ext cx="1206954" cy="1206954"/>
          </a:xfrm>
          <a:custGeom>
            <a:rect b="b" l="l" r="r" t="t"/>
            <a:pathLst>
              <a:path extrusionOk="0" h="1609272" w="1609272">
                <a:moveTo>
                  <a:pt x="804636" y="0"/>
                </a:moveTo>
                <a:cubicBezTo>
                  <a:pt x="359882" y="0"/>
                  <a:pt x="0" y="360540"/>
                  <a:pt x="0" y="804636"/>
                </a:cubicBezTo>
                <a:cubicBezTo>
                  <a:pt x="0" y="1249390"/>
                  <a:pt x="360540" y="1609272"/>
                  <a:pt x="804636" y="1609272"/>
                </a:cubicBezTo>
                <a:cubicBezTo>
                  <a:pt x="1249390" y="1609272"/>
                  <a:pt x="1609272" y="1248732"/>
                  <a:pt x="1609272" y="804636"/>
                </a:cubicBezTo>
                <a:cubicBezTo>
                  <a:pt x="1609272" y="360540"/>
                  <a:pt x="1248732" y="0"/>
                  <a:pt x="804636" y="0"/>
                </a:cubicBezTo>
                <a:close/>
                <a:moveTo>
                  <a:pt x="1173729" y="1161229"/>
                </a:moveTo>
                <a:cubicBezTo>
                  <a:pt x="1159255" y="1185572"/>
                  <a:pt x="1128333" y="1192151"/>
                  <a:pt x="1104647" y="1177677"/>
                </a:cubicBezTo>
                <a:cubicBezTo>
                  <a:pt x="915167" y="1062541"/>
                  <a:pt x="677658" y="1036224"/>
                  <a:pt x="397383" y="1100042"/>
                </a:cubicBezTo>
                <a:cubicBezTo>
                  <a:pt x="370409" y="1105964"/>
                  <a:pt x="343434" y="1089516"/>
                  <a:pt x="337513" y="1062541"/>
                </a:cubicBezTo>
                <a:cubicBezTo>
                  <a:pt x="331591" y="1035566"/>
                  <a:pt x="348039" y="1008591"/>
                  <a:pt x="375014" y="1002670"/>
                </a:cubicBezTo>
                <a:cubicBezTo>
                  <a:pt x="681605" y="932273"/>
                  <a:pt x="944773" y="962537"/>
                  <a:pt x="1156623" y="1092147"/>
                </a:cubicBezTo>
                <a:cubicBezTo>
                  <a:pt x="1180308" y="1106621"/>
                  <a:pt x="1188203" y="1137544"/>
                  <a:pt x="1173729" y="1161229"/>
                </a:cubicBezTo>
                <a:cubicBezTo>
                  <a:pt x="1173729" y="1161229"/>
                  <a:pt x="1173729" y="1161229"/>
                  <a:pt x="1173729" y="1161229"/>
                </a:cubicBezTo>
                <a:lnTo>
                  <a:pt x="1173729" y="1161229"/>
                </a:lnTo>
                <a:close/>
                <a:moveTo>
                  <a:pt x="1271759" y="942141"/>
                </a:moveTo>
                <a:cubicBezTo>
                  <a:pt x="1253338" y="971748"/>
                  <a:pt x="1215178" y="980301"/>
                  <a:pt x="1185572" y="963195"/>
                </a:cubicBezTo>
                <a:cubicBezTo>
                  <a:pt x="969116" y="830295"/>
                  <a:pt x="639498" y="792136"/>
                  <a:pt x="383567" y="869112"/>
                </a:cubicBezTo>
                <a:cubicBezTo>
                  <a:pt x="350014" y="878981"/>
                  <a:pt x="315143" y="860559"/>
                  <a:pt x="305933" y="827663"/>
                </a:cubicBezTo>
                <a:cubicBezTo>
                  <a:pt x="296064" y="794109"/>
                  <a:pt x="314486" y="759240"/>
                  <a:pt x="348039" y="750029"/>
                </a:cubicBezTo>
                <a:cubicBezTo>
                  <a:pt x="640156" y="661868"/>
                  <a:pt x="1003328" y="703974"/>
                  <a:pt x="1252679" y="856612"/>
                </a:cubicBezTo>
                <a:cubicBezTo>
                  <a:pt x="1281628" y="873718"/>
                  <a:pt x="1290181" y="912535"/>
                  <a:pt x="1271759" y="942141"/>
                </a:cubicBezTo>
                <a:lnTo>
                  <a:pt x="1271759" y="942141"/>
                </a:lnTo>
                <a:close/>
                <a:moveTo>
                  <a:pt x="1280970" y="713185"/>
                </a:moveTo>
                <a:cubicBezTo>
                  <a:pt x="1021092" y="559232"/>
                  <a:pt x="593444" y="544758"/>
                  <a:pt x="345408" y="619761"/>
                </a:cubicBezTo>
                <a:cubicBezTo>
                  <a:pt x="305933" y="632261"/>
                  <a:pt x="263826" y="609234"/>
                  <a:pt x="251326" y="569759"/>
                </a:cubicBezTo>
                <a:cubicBezTo>
                  <a:pt x="238825" y="530284"/>
                  <a:pt x="261852" y="488177"/>
                  <a:pt x="301327" y="475676"/>
                </a:cubicBezTo>
                <a:cubicBezTo>
                  <a:pt x="586207" y="389489"/>
                  <a:pt x="1058593" y="406595"/>
                  <a:pt x="1356631" y="583575"/>
                </a:cubicBezTo>
                <a:cubicBezTo>
                  <a:pt x="1392159" y="604629"/>
                  <a:pt x="1404001" y="650683"/>
                  <a:pt x="1382290" y="686211"/>
                </a:cubicBezTo>
                <a:cubicBezTo>
                  <a:pt x="1363210" y="723054"/>
                  <a:pt x="1316498" y="734239"/>
                  <a:pt x="1280970" y="713185"/>
                </a:cubicBezTo>
                <a:lnTo>
                  <a:pt x="1280970" y="7131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3059318" y="1801313"/>
            <a:ext cx="4579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3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Understanding Spotify Track Popularity</a:t>
            </a:r>
            <a:endParaRPr sz="30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6" name="Google Shape;96;p22"/>
          <p:cNvSpPr txBox="1"/>
          <p:nvPr/>
        </p:nvSpPr>
        <p:spPr>
          <a:xfrm>
            <a:off x="6812350" y="3835400"/>
            <a:ext cx="1481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Akhil Ajith</a:t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/>
        </p:nvSpPr>
        <p:spPr>
          <a:xfrm>
            <a:off x="1984451" y="1107300"/>
            <a:ext cx="3779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Questions</a:t>
            </a:r>
            <a:endParaRPr sz="20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02" name="Google Shape;102;p23"/>
          <p:cNvGrpSpPr/>
          <p:nvPr/>
        </p:nvGrpSpPr>
        <p:grpSpPr>
          <a:xfrm>
            <a:off x="582930" y="568793"/>
            <a:ext cx="571500" cy="4005900"/>
            <a:chOff x="777240" y="758391"/>
            <a:chExt cx="762000" cy="5341200"/>
          </a:xfrm>
        </p:grpSpPr>
        <p:sp>
          <p:nvSpPr>
            <p:cNvPr id="103" name="Google Shape;103;p23"/>
            <p:cNvSpPr/>
            <p:nvPr/>
          </p:nvSpPr>
          <p:spPr>
            <a:xfrm>
              <a:off x="777240" y="758391"/>
              <a:ext cx="762000" cy="5341200"/>
            </a:xfrm>
            <a:prstGeom prst="roundRect">
              <a:avLst>
                <a:gd fmla="val 2098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04" name="Google Shape;104;p23"/>
            <p:cNvSpPr/>
            <p:nvPr/>
          </p:nvSpPr>
          <p:spPr>
            <a:xfrm>
              <a:off x="996461" y="1002487"/>
              <a:ext cx="318433" cy="318433"/>
            </a:xfrm>
            <a:custGeom>
              <a:rect b="b" l="l" r="r" t="t"/>
              <a:pathLst>
                <a:path extrusionOk="0" h="318433" w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05" name="Google Shape;105;p23"/>
            <p:cNvSpPr/>
            <p:nvPr/>
          </p:nvSpPr>
          <p:spPr>
            <a:xfrm>
              <a:off x="954355" y="1566210"/>
              <a:ext cx="437516" cy="6579"/>
            </a:xfrm>
            <a:custGeom>
              <a:rect b="b" l="l" r="r" t="t"/>
              <a:pathLst>
                <a:path extrusionOk="0" h="6579" w="437516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noFill/>
            <a:ln cap="flat" cmpd="sng" w="9525">
              <a:solidFill>
                <a:srgbClr val="B3B3B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06" name="Google Shape;106;p23"/>
            <p:cNvSpPr/>
            <p:nvPr/>
          </p:nvSpPr>
          <p:spPr>
            <a:xfrm>
              <a:off x="1039157" y="2926333"/>
              <a:ext cx="238167" cy="237509"/>
            </a:xfrm>
            <a:custGeom>
              <a:rect b="b" l="l" r="r" t="t"/>
              <a:pathLst>
                <a:path extrusionOk="0" h="237509" w="238167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107" name="Google Shape;107;p23"/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108" name="Google Shape;108;p23"/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rect b="b" l="l" r="r" t="t"/>
                <a:pathLst>
                  <a:path extrusionOk="0" h="238167" w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09" name="Google Shape;109;p23"/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rect b="b" l="l" r="r" t="t"/>
                <a:pathLst>
                  <a:path extrusionOk="0" h="119083" w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grpSp>
          <p:nvGrpSpPr>
            <p:cNvPr id="110" name="Google Shape;110;p23"/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111" name="Google Shape;111;p23"/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rect b="b" l="l" r="r" t="t"/>
                <a:pathLst>
                  <a:path extrusionOk="0" h="122023" w="62810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12" name="Google Shape;112;p23"/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rect b="b" l="l" r="r" t="t"/>
                <a:pathLst>
                  <a:path extrusionOk="0" h="236211" w="252067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sp>
          <p:nvSpPr>
            <p:cNvPr id="113" name="Google Shape;113;p23"/>
            <p:cNvSpPr/>
            <p:nvPr/>
          </p:nvSpPr>
          <p:spPr>
            <a:xfrm>
              <a:off x="1043588" y="3562795"/>
              <a:ext cx="229188" cy="237388"/>
            </a:xfrm>
            <a:custGeom>
              <a:rect b="b" l="l" r="r" t="t"/>
              <a:pathLst>
                <a:path extrusionOk="0" h="271301" w="261929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114" name="Google Shape;114;p23"/>
            <p:cNvGrpSpPr/>
            <p:nvPr/>
          </p:nvGrpSpPr>
          <p:grpSpPr>
            <a:xfrm>
              <a:off x="1083736" y="5471596"/>
              <a:ext cx="149195" cy="229658"/>
              <a:chOff x="4368201" y="2813647"/>
              <a:chExt cx="861402" cy="1325972"/>
            </a:xfrm>
          </p:grpSpPr>
          <p:sp>
            <p:nvSpPr>
              <p:cNvPr id="115" name="Google Shape;115;p23"/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rect b="b" l="l" r="r" t="t"/>
                <a:pathLst>
                  <a:path extrusionOk="0" h="653103" w="861402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16" name="Google Shape;116;p23"/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rect b="b" l="l" r="r" t="t"/>
                <a:pathLst>
                  <a:path extrusionOk="0" h="965608" w="507386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sp>
        <p:nvSpPr>
          <p:cNvPr id="117" name="Google Shape;117;p23"/>
          <p:cNvSpPr txBox="1"/>
          <p:nvPr/>
        </p:nvSpPr>
        <p:spPr>
          <a:xfrm>
            <a:off x="1555448" y="1107325"/>
            <a:ext cx="343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#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18" name="Google Shape;118;p23"/>
          <p:cNvSpPr/>
          <p:nvPr/>
        </p:nvSpPr>
        <p:spPr>
          <a:xfrm>
            <a:off x="1580272" y="1586708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1580272" y="2048322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1616953" y="1688697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1927200" y="1688700"/>
            <a:ext cx="6828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Is track popularity evenly distributed, or concentrated among a small number of songs?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22" name="Google Shape;122;p23"/>
          <p:cNvSpPr/>
          <p:nvPr/>
        </p:nvSpPr>
        <p:spPr>
          <a:xfrm>
            <a:off x="1580272" y="2509961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1616953" y="2146768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4" name="Google Shape;124;p23"/>
          <p:cNvSpPr txBox="1"/>
          <p:nvPr/>
        </p:nvSpPr>
        <p:spPr>
          <a:xfrm>
            <a:off x="1927200" y="2146800"/>
            <a:ext cx="6618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How are artist popularity and follower count related to track popularity?</a:t>
            </a:r>
            <a:endParaRPr sz="1200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1580272" y="2971601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1616953" y="2604863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1927196" y="2604875"/>
            <a:ext cx="6581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Do explicit tracks differ in popularity compared to non-explicit tracks?</a:t>
            </a:r>
            <a:endParaRPr sz="1200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8" name="Google Shape;128;p23"/>
          <p:cNvSpPr/>
          <p:nvPr/>
        </p:nvSpPr>
        <p:spPr>
          <a:xfrm>
            <a:off x="1580272" y="3433215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1616953" y="3062959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1927200" y="3062963"/>
            <a:ext cx="6856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Are certain genres, album types, or release periods associated with higher popularity?</a:t>
            </a:r>
            <a:endParaRPr sz="1200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1616953" y="3521029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5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1899250" y="3521075"/>
            <a:ext cx="66186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Can simple rule-based logic be used to identify potential hit songs?</a:t>
            </a:r>
            <a:endParaRPr sz="1200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3" name="Google Shape;133;p23"/>
          <p:cNvSpPr/>
          <p:nvPr/>
        </p:nvSpPr>
        <p:spPr>
          <a:xfrm>
            <a:off x="1616947" y="3894858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oogle Shape;138;p24"/>
          <p:cNvGrpSpPr/>
          <p:nvPr/>
        </p:nvGrpSpPr>
        <p:grpSpPr>
          <a:xfrm>
            <a:off x="582930" y="568793"/>
            <a:ext cx="571500" cy="4005900"/>
            <a:chOff x="777240" y="758391"/>
            <a:chExt cx="762000" cy="5341200"/>
          </a:xfrm>
        </p:grpSpPr>
        <p:sp>
          <p:nvSpPr>
            <p:cNvPr id="139" name="Google Shape;139;p24"/>
            <p:cNvSpPr/>
            <p:nvPr/>
          </p:nvSpPr>
          <p:spPr>
            <a:xfrm>
              <a:off x="777240" y="758391"/>
              <a:ext cx="762000" cy="5341200"/>
            </a:xfrm>
            <a:prstGeom prst="roundRect">
              <a:avLst>
                <a:gd fmla="val 2098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40" name="Google Shape;140;p24"/>
            <p:cNvSpPr/>
            <p:nvPr/>
          </p:nvSpPr>
          <p:spPr>
            <a:xfrm>
              <a:off x="996461" y="1002487"/>
              <a:ext cx="318433" cy="318433"/>
            </a:xfrm>
            <a:custGeom>
              <a:rect b="b" l="l" r="r" t="t"/>
              <a:pathLst>
                <a:path extrusionOk="0" h="318433" w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41" name="Google Shape;141;p24"/>
            <p:cNvSpPr/>
            <p:nvPr/>
          </p:nvSpPr>
          <p:spPr>
            <a:xfrm>
              <a:off x="954355" y="1566210"/>
              <a:ext cx="437516" cy="6579"/>
            </a:xfrm>
            <a:custGeom>
              <a:rect b="b" l="l" r="r" t="t"/>
              <a:pathLst>
                <a:path extrusionOk="0" h="6579" w="437516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noFill/>
            <a:ln cap="flat" cmpd="sng" w="9525">
              <a:solidFill>
                <a:srgbClr val="B3B3B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42" name="Google Shape;142;p24"/>
            <p:cNvSpPr/>
            <p:nvPr/>
          </p:nvSpPr>
          <p:spPr>
            <a:xfrm>
              <a:off x="1039157" y="2926333"/>
              <a:ext cx="238167" cy="237509"/>
            </a:xfrm>
            <a:custGeom>
              <a:rect b="b" l="l" r="r" t="t"/>
              <a:pathLst>
                <a:path extrusionOk="0" h="237509" w="238167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143" name="Google Shape;143;p24"/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144" name="Google Shape;144;p24"/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rect b="b" l="l" r="r" t="t"/>
                <a:pathLst>
                  <a:path extrusionOk="0" h="238167" w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45" name="Google Shape;145;p24"/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rect b="b" l="l" r="r" t="t"/>
                <a:pathLst>
                  <a:path extrusionOk="0" h="119083" w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grpSp>
          <p:nvGrpSpPr>
            <p:cNvPr id="146" name="Google Shape;146;p24"/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147" name="Google Shape;147;p24"/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rect b="b" l="l" r="r" t="t"/>
                <a:pathLst>
                  <a:path extrusionOk="0" h="122023" w="62810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48" name="Google Shape;148;p24"/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rect b="b" l="l" r="r" t="t"/>
                <a:pathLst>
                  <a:path extrusionOk="0" h="236211" w="252067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sp>
          <p:nvSpPr>
            <p:cNvPr id="149" name="Google Shape;149;p24"/>
            <p:cNvSpPr/>
            <p:nvPr/>
          </p:nvSpPr>
          <p:spPr>
            <a:xfrm>
              <a:off x="1043588" y="3562795"/>
              <a:ext cx="229188" cy="237388"/>
            </a:xfrm>
            <a:custGeom>
              <a:rect b="b" l="l" r="r" t="t"/>
              <a:pathLst>
                <a:path extrusionOk="0" h="271301" w="261929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150" name="Google Shape;150;p24"/>
            <p:cNvGrpSpPr/>
            <p:nvPr/>
          </p:nvGrpSpPr>
          <p:grpSpPr>
            <a:xfrm>
              <a:off x="1083736" y="5471596"/>
              <a:ext cx="149195" cy="229658"/>
              <a:chOff x="4368201" y="2813647"/>
              <a:chExt cx="861402" cy="1325972"/>
            </a:xfrm>
          </p:grpSpPr>
          <p:sp>
            <p:nvSpPr>
              <p:cNvPr id="151" name="Google Shape;151;p24"/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rect b="b" l="l" r="r" t="t"/>
                <a:pathLst>
                  <a:path extrusionOk="0" h="653103" w="861402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52" name="Google Shape;152;p24"/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rect b="b" l="l" r="r" t="t"/>
                <a:pathLst>
                  <a:path extrusionOk="0" h="965608" w="507386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sp>
        <p:nvSpPr>
          <p:cNvPr id="153" name="Google Shape;153;p24"/>
          <p:cNvSpPr txBox="1"/>
          <p:nvPr/>
        </p:nvSpPr>
        <p:spPr>
          <a:xfrm>
            <a:off x="1501651" y="893425"/>
            <a:ext cx="55746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4" name="Google Shape;154;p24"/>
          <p:cNvSpPr/>
          <p:nvPr/>
        </p:nvSpPr>
        <p:spPr>
          <a:xfrm>
            <a:off x="1501647" y="2040145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5" name="Google Shape;155;p24"/>
          <p:cNvSpPr/>
          <p:nvPr/>
        </p:nvSpPr>
        <p:spPr>
          <a:xfrm>
            <a:off x="1501647" y="2501760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1538328" y="2142135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1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1972626" y="2142175"/>
            <a:ext cx="237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Track-level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58" name="Google Shape;158;p24"/>
          <p:cNvSpPr/>
          <p:nvPr/>
        </p:nvSpPr>
        <p:spPr>
          <a:xfrm>
            <a:off x="1501647" y="2963399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9" name="Google Shape;159;p24"/>
          <p:cNvSpPr txBox="1"/>
          <p:nvPr/>
        </p:nvSpPr>
        <p:spPr>
          <a:xfrm>
            <a:off x="1538328" y="2600205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2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1972625" y="2600275"/>
            <a:ext cx="237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Artist-level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1" name="Google Shape;161;p24"/>
          <p:cNvSpPr/>
          <p:nvPr/>
        </p:nvSpPr>
        <p:spPr>
          <a:xfrm>
            <a:off x="1501647" y="3425038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rgbClr val="5959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2" name="Google Shape;162;p24"/>
          <p:cNvSpPr txBox="1"/>
          <p:nvPr/>
        </p:nvSpPr>
        <p:spPr>
          <a:xfrm>
            <a:off x="1538328" y="3058301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3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1972625" y="3058375"/>
            <a:ext cx="237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Categorical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1538328" y="3516396"/>
            <a:ext cx="2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4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65" name="Google Shape;165;p24"/>
          <p:cNvSpPr txBox="1"/>
          <p:nvPr/>
        </p:nvSpPr>
        <p:spPr>
          <a:xfrm>
            <a:off x="1972625" y="3516450"/>
            <a:ext cx="2374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Temporal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6" name="Google Shape;166;p24"/>
          <p:cNvSpPr/>
          <p:nvPr/>
        </p:nvSpPr>
        <p:spPr>
          <a:xfrm>
            <a:off x="1501647" y="3886670"/>
            <a:ext cx="6986037" cy="6427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4346954" y="2142138"/>
            <a:ext cx="27945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Popularity, duration, explicit flag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1972619" y="1684052"/>
            <a:ext cx="1444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 Type</a:t>
            </a:r>
            <a:endParaRPr sz="1500">
              <a:solidFill>
                <a:schemeClr val="accent1"/>
              </a:solidFill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1476823" y="1659200"/>
            <a:ext cx="343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accent1"/>
                </a:solidFill>
                <a:latin typeface="Poppins Light"/>
                <a:ea typeface="Poppins Light"/>
                <a:cs typeface="Poppins Light"/>
                <a:sym typeface="Poppins Light"/>
              </a:rPr>
              <a:t>#</a:t>
            </a:r>
            <a:endParaRPr sz="2000">
              <a:solidFill>
                <a:schemeClr val="accent1"/>
              </a:solidFill>
            </a:endParaRPr>
          </a:p>
        </p:txBody>
      </p:sp>
      <p:sp>
        <p:nvSpPr>
          <p:cNvPr id="170" name="Google Shape;170;p24"/>
          <p:cNvSpPr txBox="1"/>
          <p:nvPr/>
        </p:nvSpPr>
        <p:spPr>
          <a:xfrm>
            <a:off x="4346950" y="2600238"/>
            <a:ext cx="3621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 popularity, followers</a:t>
            </a:r>
            <a:endParaRPr sz="1200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1" name="Google Shape;171;p24"/>
          <p:cNvSpPr txBox="1"/>
          <p:nvPr/>
        </p:nvSpPr>
        <p:spPr>
          <a:xfrm>
            <a:off x="4346950" y="3058313"/>
            <a:ext cx="3621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Genre, album type</a:t>
            </a:r>
            <a:endParaRPr sz="1200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2" name="Google Shape;172;p24"/>
          <p:cNvSpPr txBox="1"/>
          <p:nvPr/>
        </p:nvSpPr>
        <p:spPr>
          <a:xfrm>
            <a:off x="4346950" y="3516388"/>
            <a:ext cx="3621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2"/>
                </a:solidFill>
                <a:latin typeface="Poppins Light"/>
                <a:ea typeface="Poppins Light"/>
                <a:cs typeface="Poppins Light"/>
                <a:sym typeface="Poppins Light"/>
              </a:rPr>
              <a:t>Release year</a:t>
            </a:r>
            <a:endParaRPr sz="1200">
              <a:solidFill>
                <a:schemeClr val="l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4346944" y="1684027"/>
            <a:ext cx="14442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Columns</a:t>
            </a:r>
            <a:endParaRPr sz="15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5"/>
          <p:cNvSpPr txBox="1"/>
          <p:nvPr/>
        </p:nvSpPr>
        <p:spPr>
          <a:xfrm>
            <a:off x="1496363" y="568800"/>
            <a:ext cx="6514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Cleaning and Wrangling Strategy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179" name="Google Shape;179;p25"/>
          <p:cNvGrpSpPr/>
          <p:nvPr/>
        </p:nvGrpSpPr>
        <p:grpSpPr>
          <a:xfrm>
            <a:off x="582930" y="568793"/>
            <a:ext cx="571500" cy="4005913"/>
            <a:chOff x="777240" y="758391"/>
            <a:chExt cx="762000" cy="5341218"/>
          </a:xfrm>
        </p:grpSpPr>
        <p:sp>
          <p:nvSpPr>
            <p:cNvPr id="180" name="Google Shape;180;p25"/>
            <p:cNvSpPr/>
            <p:nvPr/>
          </p:nvSpPr>
          <p:spPr>
            <a:xfrm>
              <a:off x="777240" y="758391"/>
              <a:ext cx="762000" cy="5341218"/>
            </a:xfrm>
            <a:prstGeom prst="roundRect">
              <a:avLst>
                <a:gd fmla="val 2098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996461" y="1002487"/>
              <a:ext cx="318433" cy="318433"/>
            </a:xfrm>
            <a:custGeom>
              <a:rect b="b" l="l" r="r" t="t"/>
              <a:pathLst>
                <a:path extrusionOk="0" h="318433" w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954355" y="1566210"/>
              <a:ext cx="437516" cy="6579"/>
            </a:xfrm>
            <a:custGeom>
              <a:rect b="b" l="l" r="r" t="t"/>
              <a:pathLst>
                <a:path extrusionOk="0" h="6579" w="437516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noFill/>
            <a:ln cap="flat" cmpd="sng" w="9525">
              <a:solidFill>
                <a:srgbClr val="B3B3B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1039157" y="2926333"/>
              <a:ext cx="238167" cy="237509"/>
            </a:xfrm>
            <a:custGeom>
              <a:rect b="b" l="l" r="r" t="t"/>
              <a:pathLst>
                <a:path extrusionOk="0" h="237509" w="238167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184" name="Google Shape;184;p25"/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185" name="Google Shape;185;p25"/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rect b="b" l="l" r="r" t="t"/>
                <a:pathLst>
                  <a:path extrusionOk="0" h="238167" w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86" name="Google Shape;186;p25"/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rect b="b" l="l" r="r" t="t"/>
                <a:pathLst>
                  <a:path extrusionOk="0" h="119083" w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grpSp>
          <p:nvGrpSpPr>
            <p:cNvPr id="187" name="Google Shape;187;p25"/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188" name="Google Shape;188;p25"/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rect b="b" l="l" r="r" t="t"/>
                <a:pathLst>
                  <a:path extrusionOk="0" h="122023" w="62810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89" name="Google Shape;189;p25"/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rect b="b" l="l" r="r" t="t"/>
                <a:pathLst>
                  <a:path extrusionOk="0" h="236211" w="252067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sp>
          <p:nvSpPr>
            <p:cNvPr id="190" name="Google Shape;190;p25"/>
            <p:cNvSpPr/>
            <p:nvPr/>
          </p:nvSpPr>
          <p:spPr>
            <a:xfrm>
              <a:off x="1043588" y="3562795"/>
              <a:ext cx="229304" cy="237509"/>
            </a:xfrm>
            <a:custGeom>
              <a:rect b="b" l="l" r="r" t="t"/>
              <a:pathLst>
                <a:path extrusionOk="0" h="271301" w="261929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191" name="Google Shape;191;p25"/>
            <p:cNvGrpSpPr/>
            <p:nvPr/>
          </p:nvGrpSpPr>
          <p:grpSpPr>
            <a:xfrm>
              <a:off x="1083651" y="5471540"/>
              <a:ext cx="149178" cy="229632"/>
              <a:chOff x="4368201" y="2813647"/>
              <a:chExt cx="861402" cy="1325972"/>
            </a:xfrm>
          </p:grpSpPr>
          <p:sp>
            <p:nvSpPr>
              <p:cNvPr id="192" name="Google Shape;192;p25"/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rect b="b" l="l" r="r" t="t"/>
                <a:pathLst>
                  <a:path extrusionOk="0" h="653103" w="861402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193" name="Google Shape;193;p25"/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rect b="b" l="l" r="r" t="t"/>
                <a:pathLst>
                  <a:path extrusionOk="0" h="965608" w="507386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sp>
        <p:nvSpPr>
          <p:cNvPr id="194" name="Google Shape;194;p25"/>
          <p:cNvSpPr txBox="1"/>
          <p:nvPr/>
        </p:nvSpPr>
        <p:spPr>
          <a:xfrm>
            <a:off x="1576499" y="1245500"/>
            <a:ext cx="6682500" cy="3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Steps:</a:t>
            </a:r>
            <a:endParaRPr b="1" sz="15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Cleaned and standardized text fields, and handled missing values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Fixed data types and extracted the release year from album dates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Processed genre information and assigned one main genre per track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Removed unrealistic or invalid entries (e.g., impossible popularity or duration values)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Removed duplicate tracks and combined repeated versions of the same song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Created additional features such as track length in minutes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Performed final checks to ensure the dataset was complete and consistent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/>
        </p:nvSpPr>
        <p:spPr>
          <a:xfrm>
            <a:off x="0" y="539000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Top 10 artists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1425295" y="3831150"/>
            <a:ext cx="6293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Artists are ranked using a combined popularity index based on artist popularity, followers, and track count.</a:t>
            </a:r>
            <a:endParaRPr sz="9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Features are normalized and weighted to reflect overall visibility, with emphasis on artist popularity.</a:t>
            </a:r>
            <a:endParaRPr sz="9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01" name="Google Shape;201;p26" title="newplot (11).png"/>
          <p:cNvPicPr preferRelativeResize="0"/>
          <p:nvPr/>
        </p:nvPicPr>
        <p:blipFill rotWithShape="1">
          <a:blip r:embed="rId3">
            <a:alphaModFix/>
          </a:blip>
          <a:srcRect b="0" l="0" r="0" t="7604"/>
          <a:stretch/>
        </p:blipFill>
        <p:spPr>
          <a:xfrm>
            <a:off x="906900" y="1235375"/>
            <a:ext cx="7330202" cy="246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 txBox="1"/>
          <p:nvPr/>
        </p:nvSpPr>
        <p:spPr>
          <a:xfrm>
            <a:off x="1821125" y="517225"/>
            <a:ext cx="5703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 Popularity Is Highly Uneven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7" name="Google Shape;207;p27"/>
          <p:cNvSpPr txBox="1"/>
          <p:nvPr/>
        </p:nvSpPr>
        <p:spPr>
          <a:xfrm>
            <a:off x="1619850" y="4036675"/>
            <a:ext cx="6106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Track popularity is highly uneven, with many songs receiving little attention and only a small fraction becoming very popular. This skewed pattern reflects strong competition on the platform.</a:t>
            </a:r>
            <a:endParaRPr sz="1100"/>
          </a:p>
        </p:txBody>
      </p:sp>
      <p:pic>
        <p:nvPicPr>
          <p:cNvPr id="208" name="Google Shape;208;p27" title="newplot (2).png"/>
          <p:cNvPicPr preferRelativeResize="0"/>
          <p:nvPr/>
        </p:nvPicPr>
        <p:blipFill rotWithShape="1">
          <a:blip r:embed="rId3">
            <a:alphaModFix/>
          </a:blip>
          <a:srcRect b="0" l="0" r="0" t="5926"/>
          <a:stretch/>
        </p:blipFill>
        <p:spPr>
          <a:xfrm>
            <a:off x="1619838" y="1111799"/>
            <a:ext cx="6106476" cy="274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/>
        </p:nvSpPr>
        <p:spPr>
          <a:xfrm>
            <a:off x="0" y="539000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Artist Visibility Matters More Than Track Features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4" name="Google Shape;214;p28"/>
          <p:cNvSpPr txBox="1"/>
          <p:nvPr/>
        </p:nvSpPr>
        <p:spPr>
          <a:xfrm>
            <a:off x="1692675" y="4007669"/>
            <a:ext cx="5758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Artist-level variables show the strongest relationship with track popularity, while track-specific features contribute much less. This suggests that artist visibility matters more than technical song attributes.</a:t>
            </a:r>
            <a:endParaRPr sz="1100"/>
          </a:p>
        </p:txBody>
      </p:sp>
      <p:pic>
        <p:nvPicPr>
          <p:cNvPr id="215" name="Google Shape;215;p28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3387" y="993638"/>
            <a:ext cx="6097224" cy="299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9250" y="993650"/>
            <a:ext cx="888975" cy="22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/>
        </p:nvSpPr>
        <p:spPr>
          <a:xfrm>
            <a:off x="0" y="548550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Popularity Patterns Stabilize Over Time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1687100" y="4060175"/>
            <a:ext cx="59625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Early years show volatile averages due to limited data, while recent years are more stable. This indicates that current popularity patterns are reliable and structurally consistent.</a:t>
            </a:r>
            <a:endParaRPr sz="9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23" name="Google Shape;223;p29" title="newplot (3).png"/>
          <p:cNvPicPr preferRelativeResize="0"/>
          <p:nvPr/>
        </p:nvPicPr>
        <p:blipFill rotWithShape="1">
          <a:blip r:embed="rId3">
            <a:alphaModFix/>
          </a:blip>
          <a:srcRect b="0" l="0" r="0" t="5087"/>
          <a:stretch/>
        </p:blipFill>
        <p:spPr>
          <a:xfrm>
            <a:off x="1687088" y="1141426"/>
            <a:ext cx="5962424" cy="2707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0" y="586700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Explicit Content Does Not Guarantee Success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9" name="Google Shape;229;p30"/>
          <p:cNvSpPr txBox="1"/>
          <p:nvPr/>
        </p:nvSpPr>
        <p:spPr>
          <a:xfrm>
            <a:off x="1749350" y="4060150"/>
            <a:ext cx="5645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Explicit tracks have slightly higher median popularity, but the heavy overlap between groups shows that explicit content alone does not drive success.</a:t>
            </a:r>
            <a:endParaRPr sz="1100"/>
          </a:p>
        </p:txBody>
      </p:sp>
      <p:pic>
        <p:nvPicPr>
          <p:cNvPr id="230" name="Google Shape;230;p30" title="newplot (4).png"/>
          <p:cNvPicPr preferRelativeResize="0"/>
          <p:nvPr/>
        </p:nvPicPr>
        <p:blipFill rotWithShape="1">
          <a:blip r:embed="rId3">
            <a:alphaModFix/>
          </a:blip>
          <a:srcRect b="0" l="0" r="0" t="4607"/>
          <a:stretch/>
        </p:blipFill>
        <p:spPr>
          <a:xfrm>
            <a:off x="1749338" y="1254276"/>
            <a:ext cx="5645327" cy="257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/>
        </p:nvSpPr>
        <p:spPr>
          <a:xfrm>
            <a:off x="0" y="605825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 Average Popularity Can Be Misleading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1550325" y="4034475"/>
            <a:ext cx="60435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Some niche genres rank highly by average popularity, often due to small sample sizes. Average popularity should therefore be interpreted alongside genre frequency.</a:t>
            </a:r>
            <a:endParaRPr sz="9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37" name="Google Shape;237;p31" title="newplot (5).png"/>
          <p:cNvPicPr preferRelativeResize="0"/>
          <p:nvPr/>
        </p:nvPicPr>
        <p:blipFill rotWithShape="1">
          <a:blip r:embed="rId3">
            <a:alphaModFix/>
          </a:blip>
          <a:srcRect b="0" l="0" r="0" t="5410"/>
          <a:stretch/>
        </p:blipFill>
        <p:spPr>
          <a:xfrm>
            <a:off x="1550334" y="1205150"/>
            <a:ext cx="6043331" cy="2735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/>
        </p:nvSpPr>
        <p:spPr>
          <a:xfrm>
            <a:off x="0" y="577175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Popularity and Frequency Are Not the Same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1739850" y="4041100"/>
            <a:ext cx="5856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High-frequency genres dominate the dataset but are not always the most successful on average. This highlights the difference between genre saturation and performance.</a:t>
            </a:r>
            <a:endParaRPr sz="1100"/>
          </a:p>
        </p:txBody>
      </p:sp>
      <p:pic>
        <p:nvPicPr>
          <p:cNvPr id="244" name="Google Shape;244;p32" title="newplot (6).png"/>
          <p:cNvPicPr preferRelativeResize="0"/>
          <p:nvPr/>
        </p:nvPicPr>
        <p:blipFill rotWithShape="1">
          <a:blip r:embed="rId3">
            <a:alphaModFix/>
          </a:blip>
          <a:srcRect b="0" l="0" r="0" t="5015"/>
          <a:stretch/>
        </p:blipFill>
        <p:spPr>
          <a:xfrm>
            <a:off x="1739850" y="1169100"/>
            <a:ext cx="5856911" cy="26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/>
        </p:nvSpPr>
        <p:spPr>
          <a:xfrm>
            <a:off x="0" y="500850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Artist Popularity Increases Upside Potential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0" name="Google Shape;250;p33"/>
          <p:cNvSpPr txBox="1"/>
          <p:nvPr/>
        </p:nvSpPr>
        <p:spPr>
          <a:xfrm>
            <a:off x="1320825" y="4122200"/>
            <a:ext cx="65025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Higher artist popularity increases the likelihood of success, but outcomes remain highly variable. Visibility raises potential without guaranteeing popularity.</a:t>
            </a:r>
            <a:endParaRPr sz="9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51" name="Google Shape;251;p33" title="newplot (7).png"/>
          <p:cNvPicPr preferRelativeResize="0"/>
          <p:nvPr/>
        </p:nvPicPr>
        <p:blipFill rotWithShape="1">
          <a:blip r:embed="rId3">
            <a:alphaModFix/>
          </a:blip>
          <a:srcRect b="0" l="0" r="0" t="5678"/>
          <a:stretch/>
        </p:blipFill>
        <p:spPr>
          <a:xfrm>
            <a:off x="1320825" y="1027963"/>
            <a:ext cx="6502349" cy="293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/>
        </p:nvSpPr>
        <p:spPr>
          <a:xfrm>
            <a:off x="0" y="562875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Audience Size Reflects Potential, Not Engagement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1356800" y="4112676"/>
            <a:ext cx="64305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Follower count reflects potential reach but shows a noisy relationship with track popularity. Compared to artist popularity, it is a weaker indicator of success.</a:t>
            </a:r>
            <a:endParaRPr sz="9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58" name="Google Shape;258;p34" title="newplot (8).png"/>
          <p:cNvPicPr preferRelativeResize="0"/>
          <p:nvPr/>
        </p:nvPicPr>
        <p:blipFill rotWithShape="1">
          <a:blip r:embed="rId3">
            <a:alphaModFix/>
          </a:blip>
          <a:srcRect b="9" l="0" r="0" t="6181"/>
          <a:stretch/>
        </p:blipFill>
        <p:spPr>
          <a:xfrm>
            <a:off x="1356800" y="1056850"/>
            <a:ext cx="6430403" cy="288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/>
        </p:nvSpPr>
        <p:spPr>
          <a:xfrm>
            <a:off x="252900" y="519950"/>
            <a:ext cx="889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 Length Has Little Impact on Popularity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64" name="Google Shape;264;p35"/>
          <p:cNvSpPr txBox="1"/>
          <p:nvPr/>
        </p:nvSpPr>
        <p:spPr>
          <a:xfrm>
            <a:off x="1603175" y="4012450"/>
            <a:ext cx="619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Most tracks cluster around standard lengths regardless of popularity. This suggests track duration has little impact on performance.</a:t>
            </a:r>
            <a:endParaRPr sz="1100"/>
          </a:p>
        </p:txBody>
      </p:sp>
      <p:pic>
        <p:nvPicPr>
          <p:cNvPr id="265" name="Google Shape;265;p35" title="newplot (9).png"/>
          <p:cNvPicPr preferRelativeResize="0"/>
          <p:nvPr/>
        </p:nvPicPr>
        <p:blipFill rotWithShape="1">
          <a:blip r:embed="rId3">
            <a:alphaModFix/>
          </a:blip>
          <a:srcRect b="0" l="0" r="0" t="5195"/>
          <a:stretch/>
        </p:blipFill>
        <p:spPr>
          <a:xfrm>
            <a:off x="1603163" y="1106550"/>
            <a:ext cx="6190566" cy="280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/>
        </p:nvSpPr>
        <p:spPr>
          <a:xfrm>
            <a:off x="0" y="534250"/>
            <a:ext cx="9144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Album Releases Perform Slightly Better on Average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1501500" y="4036325"/>
            <a:ext cx="61410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GB" sz="90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Album tracks show slightly higher median popularity than singles or compilations, but strong overlap indicates album type alone does not determine success.</a:t>
            </a:r>
            <a:endParaRPr sz="90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72" name="Google Shape;272;p36" title="newplot (10).png"/>
          <p:cNvPicPr preferRelativeResize="0"/>
          <p:nvPr/>
        </p:nvPicPr>
        <p:blipFill rotWithShape="1">
          <a:blip r:embed="rId3">
            <a:alphaModFix/>
          </a:blip>
          <a:srcRect b="0" l="0" r="0" t="3512"/>
          <a:stretch/>
        </p:blipFill>
        <p:spPr>
          <a:xfrm>
            <a:off x="1501525" y="1082075"/>
            <a:ext cx="6140948" cy="2913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/>
        </p:nvSpPr>
        <p:spPr>
          <a:xfrm>
            <a:off x="1473250" y="2871055"/>
            <a:ext cx="35736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How the rule works</a:t>
            </a:r>
            <a:endParaRPr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track is a hit if it falls in the top 30% of track popularity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track is predicted as a hit if: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○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 popularity ≥ 75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○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 followers ≥ 1,000,000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278" name="Google Shape;278;p37"/>
          <p:cNvGrpSpPr/>
          <p:nvPr/>
        </p:nvGrpSpPr>
        <p:grpSpPr>
          <a:xfrm>
            <a:off x="582930" y="568793"/>
            <a:ext cx="571500" cy="4005900"/>
            <a:chOff x="777240" y="758391"/>
            <a:chExt cx="762000" cy="5341200"/>
          </a:xfrm>
        </p:grpSpPr>
        <p:sp>
          <p:nvSpPr>
            <p:cNvPr id="279" name="Google Shape;279;p37"/>
            <p:cNvSpPr/>
            <p:nvPr/>
          </p:nvSpPr>
          <p:spPr>
            <a:xfrm>
              <a:off x="777240" y="758391"/>
              <a:ext cx="762000" cy="5341200"/>
            </a:xfrm>
            <a:prstGeom prst="roundRect">
              <a:avLst>
                <a:gd fmla="val 2098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80" name="Google Shape;280;p37"/>
            <p:cNvSpPr/>
            <p:nvPr/>
          </p:nvSpPr>
          <p:spPr>
            <a:xfrm>
              <a:off x="996461" y="1002487"/>
              <a:ext cx="318433" cy="318433"/>
            </a:xfrm>
            <a:custGeom>
              <a:rect b="b" l="l" r="r" t="t"/>
              <a:pathLst>
                <a:path extrusionOk="0" h="318433" w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81" name="Google Shape;281;p37"/>
            <p:cNvSpPr/>
            <p:nvPr/>
          </p:nvSpPr>
          <p:spPr>
            <a:xfrm>
              <a:off x="954355" y="1566210"/>
              <a:ext cx="437516" cy="6579"/>
            </a:xfrm>
            <a:custGeom>
              <a:rect b="b" l="l" r="r" t="t"/>
              <a:pathLst>
                <a:path extrusionOk="0" h="6579" w="437516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noFill/>
            <a:ln cap="flat" cmpd="sng" w="9525">
              <a:solidFill>
                <a:srgbClr val="B3B3B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282" name="Google Shape;282;p37"/>
            <p:cNvSpPr/>
            <p:nvPr/>
          </p:nvSpPr>
          <p:spPr>
            <a:xfrm>
              <a:off x="1039157" y="2926333"/>
              <a:ext cx="238167" cy="237509"/>
            </a:xfrm>
            <a:custGeom>
              <a:rect b="b" l="l" r="r" t="t"/>
              <a:pathLst>
                <a:path extrusionOk="0" h="237509" w="238167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283" name="Google Shape;283;p37"/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284" name="Google Shape;284;p37"/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rect b="b" l="l" r="r" t="t"/>
                <a:pathLst>
                  <a:path extrusionOk="0" h="238167" w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285" name="Google Shape;285;p37"/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rect b="b" l="l" r="r" t="t"/>
                <a:pathLst>
                  <a:path extrusionOk="0" h="119083" w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grpSp>
          <p:nvGrpSpPr>
            <p:cNvPr id="286" name="Google Shape;286;p37"/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287" name="Google Shape;287;p37"/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rect b="b" l="l" r="r" t="t"/>
                <a:pathLst>
                  <a:path extrusionOk="0" h="122023" w="62810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288" name="Google Shape;288;p37"/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rect b="b" l="l" r="r" t="t"/>
                <a:pathLst>
                  <a:path extrusionOk="0" h="236211" w="252067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sp>
          <p:nvSpPr>
            <p:cNvPr id="289" name="Google Shape;289;p37"/>
            <p:cNvSpPr/>
            <p:nvPr/>
          </p:nvSpPr>
          <p:spPr>
            <a:xfrm>
              <a:off x="1043588" y="3562795"/>
              <a:ext cx="229188" cy="237388"/>
            </a:xfrm>
            <a:custGeom>
              <a:rect b="b" l="l" r="r" t="t"/>
              <a:pathLst>
                <a:path extrusionOk="0" h="271301" w="261929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290" name="Google Shape;290;p37"/>
            <p:cNvGrpSpPr/>
            <p:nvPr/>
          </p:nvGrpSpPr>
          <p:grpSpPr>
            <a:xfrm>
              <a:off x="1083736" y="5471596"/>
              <a:ext cx="149195" cy="229658"/>
              <a:chOff x="4368201" y="2813647"/>
              <a:chExt cx="861402" cy="1325972"/>
            </a:xfrm>
          </p:grpSpPr>
          <p:sp>
            <p:nvSpPr>
              <p:cNvPr id="291" name="Google Shape;291;p37"/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rect b="b" l="l" r="r" t="t"/>
                <a:pathLst>
                  <a:path extrusionOk="0" h="653103" w="861402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292" name="Google Shape;292;p37"/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rect b="b" l="l" r="r" t="t"/>
                <a:pathLst>
                  <a:path extrusionOk="0" h="965608" w="507386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sp>
        <p:nvSpPr>
          <p:cNvPr id="293" name="Google Shape;293;p37"/>
          <p:cNvSpPr txBox="1"/>
          <p:nvPr/>
        </p:nvSpPr>
        <p:spPr>
          <a:xfrm>
            <a:off x="1445501" y="634625"/>
            <a:ext cx="6097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Simple Rule-Based Hit Identification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5114400" y="2871050"/>
            <a:ext cx="35736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What I learned</a:t>
            </a:r>
            <a:endParaRPr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 visibility strongly increases the chance of success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Many tracks by popular artists still fail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Useful for understanding and screening, but not precise enough for prediction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5" name="Google Shape;295;p37"/>
          <p:cNvSpPr/>
          <p:nvPr/>
        </p:nvSpPr>
        <p:spPr>
          <a:xfrm>
            <a:off x="2734747" y="1781020"/>
            <a:ext cx="4658452" cy="81826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solidFill>
            <a:schemeClr val="accent1"/>
          </a:solidFill>
          <a:ln cap="flat" cmpd="sng" w="121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3650" lIns="87300" spcFirstLastPara="1" rIns="87300" wrap="square" tIns="43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2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6" name="Google Shape;296;p37"/>
          <p:cNvSpPr/>
          <p:nvPr/>
        </p:nvSpPr>
        <p:spPr>
          <a:xfrm rot="5400000">
            <a:off x="3612802" y="1958039"/>
            <a:ext cx="1121135" cy="2820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121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3650" lIns="87300" spcFirstLastPara="1" rIns="87300" wrap="square" tIns="43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2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4190398" y="1466631"/>
            <a:ext cx="1447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Predicted Hit</a:t>
            </a:r>
            <a:endParaRPr sz="1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5622549" y="1466600"/>
            <a:ext cx="1801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Predicted Non-Hit</a:t>
            </a:r>
            <a:endParaRPr sz="1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9" name="Google Shape;299;p37"/>
          <p:cNvSpPr txBox="1"/>
          <p:nvPr/>
        </p:nvSpPr>
        <p:spPr>
          <a:xfrm>
            <a:off x="2739689" y="1834331"/>
            <a:ext cx="1447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Actual Hit</a:t>
            </a:r>
            <a:endParaRPr sz="1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0" name="Google Shape;300;p37"/>
          <p:cNvSpPr txBox="1"/>
          <p:nvPr/>
        </p:nvSpPr>
        <p:spPr>
          <a:xfrm>
            <a:off x="2703225" y="2202063"/>
            <a:ext cx="15207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GB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Actual Non-hit</a:t>
            </a:r>
            <a:endParaRPr sz="1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1" name="Google Shape;301;p37"/>
          <p:cNvSpPr/>
          <p:nvPr/>
        </p:nvSpPr>
        <p:spPr>
          <a:xfrm rot="5400000">
            <a:off x="5060577" y="1958039"/>
            <a:ext cx="1121135" cy="28207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noFill/>
          <a:ln cap="flat" cmpd="sng" w="121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3650" lIns="87300" spcFirstLastPara="1" rIns="87300" wrap="square" tIns="43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2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2" name="Google Shape;302;p37"/>
          <p:cNvSpPr/>
          <p:nvPr/>
        </p:nvSpPr>
        <p:spPr>
          <a:xfrm>
            <a:off x="2734747" y="2153939"/>
            <a:ext cx="4658452" cy="81826"/>
          </a:xfrm>
          <a:custGeom>
            <a:rect b="b" l="l" r="r" t="t"/>
            <a:pathLst>
              <a:path extrusionOk="0" h="6579" w="437516">
                <a:moveTo>
                  <a:pt x="0" y="0"/>
                </a:moveTo>
                <a:lnTo>
                  <a:pt x="437517" y="0"/>
                </a:lnTo>
              </a:path>
            </a:pathLst>
          </a:custGeom>
          <a:solidFill>
            <a:schemeClr val="accent1"/>
          </a:solidFill>
          <a:ln cap="flat" cmpd="sng" w="121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3650" lIns="87300" spcFirstLastPara="1" rIns="87300" wrap="square" tIns="436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2">
              <a:solidFill>
                <a:schemeClr val="accen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3" name="Google Shape;303;p37"/>
          <p:cNvSpPr txBox="1"/>
          <p:nvPr/>
        </p:nvSpPr>
        <p:spPr>
          <a:xfrm>
            <a:off x="4190397" y="1834347"/>
            <a:ext cx="1447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1955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304" name="Google Shape;304;p37"/>
          <p:cNvSpPr txBox="1"/>
          <p:nvPr/>
        </p:nvSpPr>
        <p:spPr>
          <a:xfrm>
            <a:off x="5640954" y="1839678"/>
            <a:ext cx="1753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849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305" name="Google Shape;305;p37"/>
          <p:cNvSpPr txBox="1"/>
          <p:nvPr/>
        </p:nvSpPr>
        <p:spPr>
          <a:xfrm>
            <a:off x="4190397" y="2202095"/>
            <a:ext cx="14475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2354</a:t>
            </a:r>
            <a:endParaRPr sz="14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6" name="Google Shape;306;p37"/>
          <p:cNvSpPr txBox="1"/>
          <p:nvPr/>
        </p:nvSpPr>
        <p:spPr>
          <a:xfrm>
            <a:off x="5640954" y="2207123"/>
            <a:ext cx="1753200" cy="3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87300" spcFirstLastPara="1" rIns="87300" wrap="square" tIns="436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3603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307" name="Google Shape;307;p37"/>
          <p:cNvSpPr/>
          <p:nvPr/>
        </p:nvSpPr>
        <p:spPr>
          <a:xfrm>
            <a:off x="2734808" y="1411575"/>
            <a:ext cx="4659900" cy="1120800"/>
          </a:xfrm>
          <a:prstGeom prst="roundRect">
            <a:avLst>
              <a:gd fmla="val 16667" name="adj"/>
            </a:avLst>
          </a:prstGeom>
          <a:noFill/>
          <a:ln cap="flat" cmpd="sng" w="121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6375" lIns="116375" spcFirstLastPara="1" rIns="116375" wrap="square" tIns="1163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36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/>
        </p:nvSpPr>
        <p:spPr>
          <a:xfrm>
            <a:off x="1489225" y="1485725"/>
            <a:ext cx="3350700" cy="28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How the rule works</a:t>
            </a:r>
            <a:endParaRPr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Chose a highly popular song as a reference point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Compared other tracks using artist popularity, audience size, and track duration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Normalized all features to ensure fair comparison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Calculated a similarity score showing how close each track is to the reference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grpSp>
        <p:nvGrpSpPr>
          <p:cNvPr id="313" name="Google Shape;313;p38"/>
          <p:cNvGrpSpPr/>
          <p:nvPr/>
        </p:nvGrpSpPr>
        <p:grpSpPr>
          <a:xfrm>
            <a:off x="582930" y="568793"/>
            <a:ext cx="571500" cy="4005900"/>
            <a:chOff x="777240" y="758391"/>
            <a:chExt cx="762000" cy="5341200"/>
          </a:xfrm>
        </p:grpSpPr>
        <p:sp>
          <p:nvSpPr>
            <p:cNvPr id="314" name="Google Shape;314;p38"/>
            <p:cNvSpPr/>
            <p:nvPr/>
          </p:nvSpPr>
          <p:spPr>
            <a:xfrm>
              <a:off x="777240" y="758391"/>
              <a:ext cx="762000" cy="5341200"/>
            </a:xfrm>
            <a:prstGeom prst="roundRect">
              <a:avLst>
                <a:gd fmla="val 2098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15" name="Google Shape;315;p38"/>
            <p:cNvSpPr/>
            <p:nvPr/>
          </p:nvSpPr>
          <p:spPr>
            <a:xfrm>
              <a:off x="996461" y="1002487"/>
              <a:ext cx="318433" cy="318433"/>
            </a:xfrm>
            <a:custGeom>
              <a:rect b="b" l="l" r="r" t="t"/>
              <a:pathLst>
                <a:path extrusionOk="0" h="318433" w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16" name="Google Shape;316;p38"/>
            <p:cNvSpPr/>
            <p:nvPr/>
          </p:nvSpPr>
          <p:spPr>
            <a:xfrm>
              <a:off x="954355" y="1566210"/>
              <a:ext cx="437516" cy="6579"/>
            </a:xfrm>
            <a:custGeom>
              <a:rect b="b" l="l" r="r" t="t"/>
              <a:pathLst>
                <a:path extrusionOk="0" h="6579" w="437516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noFill/>
            <a:ln cap="flat" cmpd="sng" w="9525">
              <a:solidFill>
                <a:srgbClr val="B3B3B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17" name="Google Shape;317;p38"/>
            <p:cNvSpPr/>
            <p:nvPr/>
          </p:nvSpPr>
          <p:spPr>
            <a:xfrm>
              <a:off x="1039157" y="2926333"/>
              <a:ext cx="238167" cy="237509"/>
            </a:xfrm>
            <a:custGeom>
              <a:rect b="b" l="l" r="r" t="t"/>
              <a:pathLst>
                <a:path extrusionOk="0" h="237509" w="238167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318" name="Google Shape;318;p38"/>
            <p:cNvGrpSpPr/>
            <p:nvPr/>
          </p:nvGrpSpPr>
          <p:grpSpPr>
            <a:xfrm>
              <a:off x="1039157" y="4199257"/>
              <a:ext cx="238167" cy="238167"/>
              <a:chOff x="718279" y="3310895"/>
              <a:chExt cx="238167" cy="238167"/>
            </a:xfrm>
          </p:grpSpPr>
          <p:sp>
            <p:nvSpPr>
              <p:cNvPr id="319" name="Google Shape;319;p38"/>
              <p:cNvSpPr/>
              <p:nvPr/>
            </p:nvSpPr>
            <p:spPr>
              <a:xfrm>
                <a:off x="718279" y="3310895"/>
                <a:ext cx="238167" cy="238167"/>
              </a:xfrm>
              <a:custGeom>
                <a:rect b="b" l="l" r="r" t="t"/>
                <a:pathLst>
                  <a:path extrusionOk="0" h="238167" w="238167">
                    <a:moveTo>
                      <a:pt x="119084" y="0"/>
                    </a:moveTo>
                    <a:cubicBezTo>
                      <a:pt x="53292" y="0"/>
                      <a:pt x="0" y="53291"/>
                      <a:pt x="0" y="119083"/>
                    </a:cubicBezTo>
                    <a:cubicBezTo>
                      <a:pt x="0" y="184875"/>
                      <a:pt x="53292" y="238167"/>
                      <a:pt x="119084" y="238167"/>
                    </a:cubicBezTo>
                    <a:cubicBezTo>
                      <a:pt x="184876" y="238167"/>
                      <a:pt x="238167" y="184875"/>
                      <a:pt x="238167" y="119083"/>
                    </a:cubicBezTo>
                    <a:cubicBezTo>
                      <a:pt x="237509" y="53291"/>
                      <a:pt x="184218" y="0"/>
                      <a:pt x="119084" y="0"/>
                    </a:cubicBezTo>
                    <a:close/>
                    <a:moveTo>
                      <a:pt x="119084" y="220403"/>
                    </a:moveTo>
                    <a:cubicBezTo>
                      <a:pt x="63160" y="220403"/>
                      <a:pt x="17106" y="175007"/>
                      <a:pt x="17106" y="118426"/>
                    </a:cubicBezTo>
                    <a:cubicBezTo>
                      <a:pt x="17106" y="61844"/>
                      <a:pt x="62502" y="16448"/>
                      <a:pt x="119084" y="16448"/>
                    </a:cubicBezTo>
                    <a:cubicBezTo>
                      <a:pt x="175007" y="16448"/>
                      <a:pt x="221061" y="61844"/>
                      <a:pt x="221061" y="118426"/>
                    </a:cubicBezTo>
                    <a:cubicBezTo>
                      <a:pt x="221061" y="175007"/>
                      <a:pt x="175007" y="220403"/>
                      <a:pt x="119084" y="220403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320" name="Google Shape;320;p38"/>
              <p:cNvSpPr/>
              <p:nvPr/>
            </p:nvSpPr>
            <p:spPr>
              <a:xfrm>
                <a:off x="778150" y="3370107"/>
                <a:ext cx="119083" cy="119083"/>
              </a:xfrm>
              <a:custGeom>
                <a:rect b="b" l="l" r="r" t="t"/>
                <a:pathLst>
                  <a:path extrusionOk="0" h="119083" w="119083">
                    <a:moveTo>
                      <a:pt x="35528" y="35527"/>
                    </a:moveTo>
                    <a:lnTo>
                      <a:pt x="0" y="119083"/>
                    </a:lnTo>
                    <a:lnTo>
                      <a:pt x="83556" y="83556"/>
                    </a:lnTo>
                    <a:lnTo>
                      <a:pt x="119084" y="0"/>
                    </a:lnTo>
                    <a:lnTo>
                      <a:pt x="35528" y="35527"/>
                    </a:lnTo>
                    <a:close/>
                    <a:moveTo>
                      <a:pt x="59213" y="71055"/>
                    </a:moveTo>
                    <a:cubicBezTo>
                      <a:pt x="52634" y="71055"/>
                      <a:pt x="47370" y="65792"/>
                      <a:pt x="47370" y="59213"/>
                    </a:cubicBezTo>
                    <a:cubicBezTo>
                      <a:pt x="47370" y="52634"/>
                      <a:pt x="52634" y="47370"/>
                      <a:pt x="59213" y="47370"/>
                    </a:cubicBezTo>
                    <a:cubicBezTo>
                      <a:pt x="65792" y="47370"/>
                      <a:pt x="71055" y="52634"/>
                      <a:pt x="71055" y="59213"/>
                    </a:cubicBezTo>
                    <a:cubicBezTo>
                      <a:pt x="71055" y="65792"/>
                      <a:pt x="65792" y="71055"/>
                      <a:pt x="59213" y="71055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grpSp>
          <p:nvGrpSpPr>
            <p:cNvPr id="321" name="Google Shape;321;p38"/>
            <p:cNvGrpSpPr/>
            <p:nvPr/>
          </p:nvGrpSpPr>
          <p:grpSpPr>
            <a:xfrm>
              <a:off x="1032207" y="4836377"/>
              <a:ext cx="252067" cy="236211"/>
              <a:chOff x="694510" y="3858942"/>
              <a:chExt cx="252067" cy="236211"/>
            </a:xfrm>
          </p:grpSpPr>
          <p:sp>
            <p:nvSpPr>
              <p:cNvPr id="322" name="Google Shape;322;p38"/>
              <p:cNvSpPr/>
              <p:nvPr/>
            </p:nvSpPr>
            <p:spPr>
              <a:xfrm>
                <a:off x="816967" y="3902364"/>
                <a:ext cx="62810" cy="122023"/>
              </a:xfrm>
              <a:custGeom>
                <a:rect b="b" l="l" r="r" t="t"/>
                <a:pathLst>
                  <a:path extrusionOk="0" h="122023" w="62810">
                    <a:moveTo>
                      <a:pt x="2632" y="84872"/>
                    </a:moveTo>
                    <a:lnTo>
                      <a:pt x="50002" y="120400"/>
                    </a:lnTo>
                    <a:cubicBezTo>
                      <a:pt x="53292" y="123031"/>
                      <a:pt x="58555" y="122373"/>
                      <a:pt x="61187" y="119084"/>
                    </a:cubicBezTo>
                    <a:cubicBezTo>
                      <a:pt x="63818" y="115794"/>
                      <a:pt x="63160" y="110531"/>
                      <a:pt x="59871" y="107899"/>
                    </a:cubicBezTo>
                    <a:lnTo>
                      <a:pt x="15790" y="75003"/>
                    </a:lnTo>
                    <a:lnTo>
                      <a:pt x="15790" y="7895"/>
                    </a:lnTo>
                    <a:cubicBezTo>
                      <a:pt x="15790" y="3290"/>
                      <a:pt x="12500" y="0"/>
                      <a:pt x="7895" y="0"/>
                    </a:cubicBezTo>
                    <a:cubicBezTo>
                      <a:pt x="3290" y="0"/>
                      <a:pt x="0" y="3290"/>
                      <a:pt x="0" y="7895"/>
                    </a:cubicBezTo>
                    <a:lnTo>
                      <a:pt x="0" y="78950"/>
                    </a:lnTo>
                    <a:cubicBezTo>
                      <a:pt x="0" y="81582"/>
                      <a:pt x="658" y="83556"/>
                      <a:pt x="2632" y="84872"/>
                    </a:cubicBezTo>
                    <a:lnTo>
                      <a:pt x="2632" y="84872"/>
                    </a:ln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323" name="Google Shape;323;p38"/>
              <p:cNvSpPr/>
              <p:nvPr/>
            </p:nvSpPr>
            <p:spPr>
              <a:xfrm>
                <a:off x="694510" y="3858942"/>
                <a:ext cx="252067" cy="236211"/>
              </a:xfrm>
              <a:custGeom>
                <a:rect b="b" l="l" r="r" t="t"/>
                <a:pathLst>
                  <a:path extrusionOk="0" h="236211" w="252067">
                    <a:moveTo>
                      <a:pt x="134300" y="0"/>
                    </a:moveTo>
                    <a:cubicBezTo>
                      <a:pt x="76403" y="0"/>
                      <a:pt x="27717" y="41449"/>
                      <a:pt x="17848" y="98688"/>
                    </a:cubicBezTo>
                    <a:lnTo>
                      <a:pt x="14558" y="94082"/>
                    </a:lnTo>
                    <a:cubicBezTo>
                      <a:pt x="11927" y="90793"/>
                      <a:pt x="7321" y="89477"/>
                      <a:pt x="3374" y="92109"/>
                    </a:cubicBezTo>
                    <a:cubicBezTo>
                      <a:pt x="84" y="94741"/>
                      <a:pt x="-1232" y="99346"/>
                      <a:pt x="1400" y="103294"/>
                    </a:cubicBezTo>
                    <a:lnTo>
                      <a:pt x="17190" y="126978"/>
                    </a:lnTo>
                    <a:cubicBezTo>
                      <a:pt x="18506" y="128952"/>
                      <a:pt x="20480" y="130268"/>
                      <a:pt x="23111" y="130268"/>
                    </a:cubicBezTo>
                    <a:lnTo>
                      <a:pt x="23769" y="130268"/>
                    </a:lnTo>
                    <a:cubicBezTo>
                      <a:pt x="25743" y="130268"/>
                      <a:pt x="27717" y="129610"/>
                      <a:pt x="29033" y="127637"/>
                    </a:cubicBezTo>
                    <a:lnTo>
                      <a:pt x="48770" y="107899"/>
                    </a:lnTo>
                    <a:cubicBezTo>
                      <a:pt x="52060" y="104609"/>
                      <a:pt x="52060" y="100004"/>
                      <a:pt x="48770" y="96714"/>
                    </a:cubicBezTo>
                    <a:cubicBezTo>
                      <a:pt x="45481" y="93425"/>
                      <a:pt x="40875" y="93425"/>
                      <a:pt x="37586" y="96714"/>
                    </a:cubicBezTo>
                    <a:lnTo>
                      <a:pt x="32980" y="101320"/>
                    </a:lnTo>
                    <a:cubicBezTo>
                      <a:pt x="42191" y="45397"/>
                      <a:pt x="94825" y="7895"/>
                      <a:pt x="150748" y="16448"/>
                    </a:cubicBezTo>
                    <a:cubicBezTo>
                      <a:pt x="206671" y="25659"/>
                      <a:pt x="244172" y="78293"/>
                      <a:pt x="235619" y="134216"/>
                    </a:cubicBezTo>
                    <a:cubicBezTo>
                      <a:pt x="227724" y="183560"/>
                      <a:pt x="184960" y="220403"/>
                      <a:pt x="134300" y="220403"/>
                    </a:cubicBezTo>
                    <a:cubicBezTo>
                      <a:pt x="102720" y="221061"/>
                      <a:pt x="72455" y="205929"/>
                      <a:pt x="54034" y="180270"/>
                    </a:cubicBezTo>
                    <a:cubicBezTo>
                      <a:pt x="51402" y="176981"/>
                      <a:pt x="46796" y="175665"/>
                      <a:pt x="42849" y="178296"/>
                    </a:cubicBezTo>
                    <a:cubicBezTo>
                      <a:pt x="39559" y="180928"/>
                      <a:pt x="38243" y="185534"/>
                      <a:pt x="40875" y="189481"/>
                    </a:cubicBezTo>
                    <a:cubicBezTo>
                      <a:pt x="62587" y="219087"/>
                      <a:pt x="97456" y="236851"/>
                      <a:pt x="133642" y="236193"/>
                    </a:cubicBezTo>
                    <a:cubicBezTo>
                      <a:pt x="198776" y="236193"/>
                      <a:pt x="252067" y="183560"/>
                      <a:pt x="252067" y="117768"/>
                    </a:cubicBezTo>
                    <a:cubicBezTo>
                      <a:pt x="252067" y="51976"/>
                      <a:pt x="199434" y="0"/>
                      <a:pt x="134300" y="0"/>
                    </a:cubicBezTo>
                    <a:close/>
                  </a:path>
                </a:pathLst>
              </a:custGeom>
              <a:solidFill>
                <a:srgbClr val="B3B3B3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  <p:sp>
          <p:nvSpPr>
            <p:cNvPr id="324" name="Google Shape;324;p38"/>
            <p:cNvSpPr/>
            <p:nvPr/>
          </p:nvSpPr>
          <p:spPr>
            <a:xfrm>
              <a:off x="1043588" y="3562795"/>
              <a:ext cx="229188" cy="237388"/>
            </a:xfrm>
            <a:custGeom>
              <a:rect b="b" l="l" r="r" t="t"/>
              <a:pathLst>
                <a:path extrusionOk="0" h="271301" w="261929">
                  <a:moveTo>
                    <a:pt x="257947" y="247112"/>
                  </a:moveTo>
                  <a:lnTo>
                    <a:pt x="193377" y="179956"/>
                  </a:lnTo>
                  <a:cubicBezTo>
                    <a:pt x="209979" y="160220"/>
                    <a:pt x="219075" y="135389"/>
                    <a:pt x="219075" y="109538"/>
                  </a:cubicBezTo>
                  <a:cubicBezTo>
                    <a:pt x="219075" y="49140"/>
                    <a:pt x="169936" y="0"/>
                    <a:pt x="109538" y="0"/>
                  </a:cubicBezTo>
                  <a:cubicBezTo>
                    <a:pt x="49140" y="0"/>
                    <a:pt x="0" y="49140"/>
                    <a:pt x="0" y="109538"/>
                  </a:cubicBezTo>
                  <a:cubicBezTo>
                    <a:pt x="0" y="169936"/>
                    <a:pt x="49140" y="219075"/>
                    <a:pt x="109538" y="219075"/>
                  </a:cubicBezTo>
                  <a:cubicBezTo>
                    <a:pt x="132212" y="219075"/>
                    <a:pt x="153820" y="212236"/>
                    <a:pt x="172293" y="199254"/>
                  </a:cubicBezTo>
                  <a:lnTo>
                    <a:pt x="237354" y="266920"/>
                  </a:lnTo>
                  <a:cubicBezTo>
                    <a:pt x="240073" y="269744"/>
                    <a:pt x="243731" y="271301"/>
                    <a:pt x="247650" y="271301"/>
                  </a:cubicBezTo>
                  <a:cubicBezTo>
                    <a:pt x="251360" y="271301"/>
                    <a:pt x="254880" y="269887"/>
                    <a:pt x="257552" y="267315"/>
                  </a:cubicBezTo>
                  <a:cubicBezTo>
                    <a:pt x="263229" y="261852"/>
                    <a:pt x="263410" y="252794"/>
                    <a:pt x="257947" y="247112"/>
                  </a:cubicBezTo>
                  <a:close/>
                  <a:moveTo>
                    <a:pt x="109538" y="28575"/>
                  </a:moveTo>
                  <a:cubicBezTo>
                    <a:pt x="154181" y="28575"/>
                    <a:pt x="190500" y="64894"/>
                    <a:pt x="190500" y="109538"/>
                  </a:cubicBezTo>
                  <a:cubicBezTo>
                    <a:pt x="190500" y="154181"/>
                    <a:pt x="154181" y="190500"/>
                    <a:pt x="109538" y="190500"/>
                  </a:cubicBezTo>
                  <a:cubicBezTo>
                    <a:pt x="64894" y="190500"/>
                    <a:pt x="28575" y="154181"/>
                    <a:pt x="28575" y="109538"/>
                  </a:cubicBezTo>
                  <a:cubicBezTo>
                    <a:pt x="28575" y="64894"/>
                    <a:pt x="64894" y="28575"/>
                    <a:pt x="109538" y="28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grpSp>
          <p:nvGrpSpPr>
            <p:cNvPr id="325" name="Google Shape;325;p38"/>
            <p:cNvGrpSpPr/>
            <p:nvPr/>
          </p:nvGrpSpPr>
          <p:grpSpPr>
            <a:xfrm>
              <a:off x="1083736" y="5471596"/>
              <a:ext cx="149195" cy="229658"/>
              <a:chOff x="4368201" y="2813647"/>
              <a:chExt cx="861402" cy="1325972"/>
            </a:xfrm>
          </p:grpSpPr>
          <p:sp>
            <p:nvSpPr>
              <p:cNvPr id="326" name="Google Shape;326;p38"/>
              <p:cNvSpPr/>
              <p:nvPr/>
            </p:nvSpPr>
            <p:spPr>
              <a:xfrm>
                <a:off x="4368201" y="3486516"/>
                <a:ext cx="861402" cy="653103"/>
              </a:xfrm>
              <a:custGeom>
                <a:rect b="b" l="l" r="r" t="t"/>
                <a:pathLst>
                  <a:path extrusionOk="0" h="653103" w="861402">
                    <a:moveTo>
                      <a:pt x="861402" y="39536"/>
                    </a:moveTo>
                    <a:cubicBezTo>
                      <a:pt x="861402" y="17704"/>
                      <a:pt x="843664" y="0"/>
                      <a:pt x="821779" y="0"/>
                    </a:cubicBezTo>
                    <a:cubicBezTo>
                      <a:pt x="799896" y="0"/>
                      <a:pt x="782158" y="17704"/>
                      <a:pt x="782158" y="39536"/>
                    </a:cubicBezTo>
                    <a:cubicBezTo>
                      <a:pt x="782158" y="232962"/>
                      <a:pt x="624500" y="390310"/>
                      <a:pt x="430695" y="390310"/>
                    </a:cubicBezTo>
                    <a:cubicBezTo>
                      <a:pt x="236903" y="390310"/>
                      <a:pt x="79245" y="232962"/>
                      <a:pt x="79245" y="39536"/>
                    </a:cubicBezTo>
                    <a:cubicBezTo>
                      <a:pt x="79245" y="17704"/>
                      <a:pt x="61506" y="0"/>
                      <a:pt x="39622" y="0"/>
                    </a:cubicBezTo>
                    <a:cubicBezTo>
                      <a:pt x="17738" y="0"/>
                      <a:pt x="0" y="17704"/>
                      <a:pt x="0" y="39536"/>
                    </a:cubicBezTo>
                    <a:cubicBezTo>
                      <a:pt x="0" y="263239"/>
                      <a:pt x="172092" y="447529"/>
                      <a:pt x="391074" y="467558"/>
                    </a:cubicBezTo>
                    <a:lnTo>
                      <a:pt x="391074" y="574014"/>
                    </a:lnTo>
                    <a:lnTo>
                      <a:pt x="244038" y="574014"/>
                    </a:lnTo>
                    <a:cubicBezTo>
                      <a:pt x="222154" y="574014"/>
                      <a:pt x="204416" y="591718"/>
                      <a:pt x="204416" y="613558"/>
                    </a:cubicBezTo>
                    <a:cubicBezTo>
                      <a:pt x="204416" y="635400"/>
                      <a:pt x="222154" y="653104"/>
                      <a:pt x="244038" y="653104"/>
                    </a:cubicBezTo>
                    <a:lnTo>
                      <a:pt x="617364" y="653104"/>
                    </a:lnTo>
                    <a:cubicBezTo>
                      <a:pt x="639238" y="653104"/>
                      <a:pt x="656977" y="635400"/>
                      <a:pt x="656977" y="613558"/>
                    </a:cubicBezTo>
                    <a:cubicBezTo>
                      <a:pt x="656977" y="591718"/>
                      <a:pt x="639238" y="574014"/>
                      <a:pt x="617364" y="574014"/>
                    </a:cubicBezTo>
                    <a:lnTo>
                      <a:pt x="470318" y="574014"/>
                    </a:lnTo>
                    <a:lnTo>
                      <a:pt x="470318" y="467558"/>
                    </a:lnTo>
                    <a:cubicBezTo>
                      <a:pt x="689311" y="447539"/>
                      <a:pt x="861402" y="263239"/>
                      <a:pt x="861402" y="3953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  <p:sp>
            <p:nvSpPr>
              <p:cNvPr id="327" name="Google Shape;327;p38"/>
              <p:cNvSpPr/>
              <p:nvPr/>
            </p:nvSpPr>
            <p:spPr>
              <a:xfrm>
                <a:off x="4545209" y="2813647"/>
                <a:ext cx="507386" cy="965608"/>
              </a:xfrm>
              <a:custGeom>
                <a:rect b="b" l="l" r="r" t="t"/>
                <a:pathLst>
                  <a:path extrusionOk="0" h="965608" w="507386">
                    <a:moveTo>
                      <a:pt x="253687" y="965609"/>
                    </a:moveTo>
                    <a:cubicBezTo>
                      <a:pt x="393578" y="965609"/>
                      <a:pt x="507386" y="852021"/>
                      <a:pt x="507386" y="712405"/>
                    </a:cubicBezTo>
                    <a:lnTo>
                      <a:pt x="507386" y="253192"/>
                    </a:lnTo>
                    <a:cubicBezTo>
                      <a:pt x="507386" y="113587"/>
                      <a:pt x="393578" y="0"/>
                      <a:pt x="253687" y="0"/>
                    </a:cubicBezTo>
                    <a:cubicBezTo>
                      <a:pt x="113808" y="0"/>
                      <a:pt x="0" y="113587"/>
                      <a:pt x="0" y="253192"/>
                    </a:cubicBezTo>
                    <a:lnTo>
                      <a:pt x="0" y="712405"/>
                    </a:lnTo>
                    <a:cubicBezTo>
                      <a:pt x="0" y="852021"/>
                      <a:pt x="113808" y="965609"/>
                      <a:pt x="253687" y="965609"/>
                    </a:cubicBezTo>
                    <a:close/>
                    <a:moveTo>
                      <a:pt x="79235" y="253192"/>
                    </a:moveTo>
                    <a:cubicBezTo>
                      <a:pt x="79235" y="157188"/>
                      <a:pt x="157496" y="79090"/>
                      <a:pt x="253687" y="79090"/>
                    </a:cubicBezTo>
                    <a:cubicBezTo>
                      <a:pt x="349881" y="79090"/>
                      <a:pt x="428142" y="157188"/>
                      <a:pt x="428142" y="253192"/>
                    </a:cubicBezTo>
                    <a:lnTo>
                      <a:pt x="428142" y="712405"/>
                    </a:lnTo>
                    <a:cubicBezTo>
                      <a:pt x="428142" y="808408"/>
                      <a:pt x="349881" y="886517"/>
                      <a:pt x="253687" y="886517"/>
                    </a:cubicBezTo>
                    <a:cubicBezTo>
                      <a:pt x="157496" y="886517"/>
                      <a:pt x="79235" y="808408"/>
                      <a:pt x="79235" y="71240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Poppins Light"/>
                  <a:ea typeface="Poppins Light"/>
                  <a:cs typeface="Poppins Light"/>
                  <a:sym typeface="Poppins Light"/>
                </a:endParaRPr>
              </a:p>
            </p:txBody>
          </p:sp>
        </p:grpSp>
      </p:grpSp>
      <p:sp>
        <p:nvSpPr>
          <p:cNvPr id="328" name="Google Shape;328;p38"/>
          <p:cNvSpPr txBox="1"/>
          <p:nvPr/>
        </p:nvSpPr>
        <p:spPr>
          <a:xfrm>
            <a:off x="1445500" y="634625"/>
            <a:ext cx="673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Similarity Score: Approach &amp; Observations</a:t>
            </a:r>
            <a:endParaRPr sz="24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29" name="Google Shape;329;p38"/>
          <p:cNvSpPr txBox="1"/>
          <p:nvPr/>
        </p:nvSpPr>
        <p:spPr>
          <a:xfrm>
            <a:off x="4994225" y="1485725"/>
            <a:ext cx="35736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What I learned</a:t>
            </a:r>
            <a:endParaRPr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Tracks by the same or similarly popular artists appear closest to the reference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Artist popularity decreases gradually as similarity scores increase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Track popularity itself does not follow a clear pattern</a:t>
            </a:r>
            <a:b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 Light"/>
              <a:buChar char="●"/>
            </a:pPr>
            <a:r>
              <a:rPr lang="en-GB" sz="12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Individual song success remains difficult to predict</a:t>
            </a:r>
            <a:endParaRPr sz="12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/>
        </p:nvSpPr>
        <p:spPr>
          <a:xfrm>
            <a:off x="545550" y="1261100"/>
            <a:ext cx="8052900" cy="3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Popularity is highly concentrated</a:t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Most tracks receive little attention, while a small number capture most engagement.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Artist visibility matters most</a:t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Tracks by popular artists with large audiences tend to perform better, but success is not guaranteed.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Explicit content has little impact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Explicit and non-explicit tracks show very similar popularity patterns.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Genre, album type, and timing matter indirectly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Some genres and formats perform better on average, but competition and artist visibility play a bigger role.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Simple rules help, but are limited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Rule-based logic can identify some popular tracks, but it also produces many false positives.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2530650" y="544400"/>
            <a:ext cx="40827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Final Research Findings</a:t>
            </a:r>
            <a:endParaRPr b="1" sz="24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0"/>
          <p:cNvSpPr txBox="1"/>
          <p:nvPr/>
        </p:nvSpPr>
        <p:spPr>
          <a:xfrm>
            <a:off x="3138157" y="2105252"/>
            <a:ext cx="28677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</a:t>
            </a:r>
            <a:endParaRPr sz="50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41" name="Google Shape;341;p40"/>
          <p:cNvGrpSpPr/>
          <p:nvPr/>
        </p:nvGrpSpPr>
        <p:grpSpPr>
          <a:xfrm>
            <a:off x="582930" y="1187651"/>
            <a:ext cx="571500" cy="2768175"/>
            <a:chOff x="777240" y="1582876"/>
            <a:chExt cx="762000" cy="3690900"/>
          </a:xfrm>
        </p:grpSpPr>
        <p:sp>
          <p:nvSpPr>
            <p:cNvPr id="342" name="Google Shape;342;p40"/>
            <p:cNvSpPr/>
            <p:nvPr/>
          </p:nvSpPr>
          <p:spPr>
            <a:xfrm>
              <a:off x="777240" y="1582876"/>
              <a:ext cx="762000" cy="3690900"/>
            </a:xfrm>
            <a:prstGeom prst="roundRect">
              <a:avLst>
                <a:gd fmla="val 20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3" name="Google Shape;343;p40"/>
            <p:cNvSpPr/>
            <p:nvPr/>
          </p:nvSpPr>
          <p:spPr>
            <a:xfrm>
              <a:off x="996462" y="1812491"/>
              <a:ext cx="318433" cy="318433"/>
            </a:xfrm>
            <a:custGeom>
              <a:rect b="b" l="l" r="r" t="t"/>
              <a:pathLst>
                <a:path extrusionOk="0" h="318433" w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4" name="Google Shape;344;p40"/>
            <p:cNvSpPr/>
            <p:nvPr/>
          </p:nvSpPr>
          <p:spPr>
            <a:xfrm>
              <a:off x="1035279" y="3714537"/>
              <a:ext cx="238167" cy="237509"/>
            </a:xfrm>
            <a:custGeom>
              <a:rect b="b" l="l" r="r" t="t"/>
              <a:pathLst>
                <a:path extrusionOk="0" h="237509" w="238167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1039884" y="4262585"/>
              <a:ext cx="238167" cy="238167"/>
            </a:xfrm>
            <a:custGeom>
              <a:rect b="b" l="l" r="r" t="t"/>
              <a:pathLst>
                <a:path extrusionOk="0" h="238167" w="238167">
                  <a:moveTo>
                    <a:pt x="119084" y="0"/>
                  </a:moveTo>
                  <a:cubicBezTo>
                    <a:pt x="53292" y="0"/>
                    <a:pt x="0" y="53291"/>
                    <a:pt x="0" y="119083"/>
                  </a:cubicBezTo>
                  <a:cubicBezTo>
                    <a:pt x="0" y="184875"/>
                    <a:pt x="53292" y="238167"/>
                    <a:pt x="119084" y="238167"/>
                  </a:cubicBezTo>
                  <a:cubicBezTo>
                    <a:pt x="184876" y="238167"/>
                    <a:pt x="238167" y="184875"/>
                    <a:pt x="238167" y="119083"/>
                  </a:cubicBezTo>
                  <a:cubicBezTo>
                    <a:pt x="237509" y="53291"/>
                    <a:pt x="184218" y="0"/>
                    <a:pt x="119084" y="0"/>
                  </a:cubicBezTo>
                  <a:close/>
                  <a:moveTo>
                    <a:pt x="119084" y="220403"/>
                  </a:moveTo>
                  <a:cubicBezTo>
                    <a:pt x="63160" y="220403"/>
                    <a:pt x="17106" y="175007"/>
                    <a:pt x="17106" y="118426"/>
                  </a:cubicBezTo>
                  <a:cubicBezTo>
                    <a:pt x="17106" y="61844"/>
                    <a:pt x="62502" y="16448"/>
                    <a:pt x="119084" y="16448"/>
                  </a:cubicBezTo>
                  <a:cubicBezTo>
                    <a:pt x="175007" y="16448"/>
                    <a:pt x="221061" y="61844"/>
                    <a:pt x="221061" y="118426"/>
                  </a:cubicBezTo>
                  <a:cubicBezTo>
                    <a:pt x="221061" y="175007"/>
                    <a:pt x="175007" y="220403"/>
                    <a:pt x="119084" y="220403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1099755" y="4321797"/>
              <a:ext cx="119083" cy="119083"/>
            </a:xfrm>
            <a:custGeom>
              <a:rect b="b" l="l" r="r" t="t"/>
              <a:pathLst>
                <a:path extrusionOk="0" h="119083" w="119083">
                  <a:moveTo>
                    <a:pt x="35528" y="35527"/>
                  </a:moveTo>
                  <a:lnTo>
                    <a:pt x="0" y="119083"/>
                  </a:lnTo>
                  <a:lnTo>
                    <a:pt x="83556" y="83556"/>
                  </a:lnTo>
                  <a:lnTo>
                    <a:pt x="119084" y="0"/>
                  </a:lnTo>
                  <a:lnTo>
                    <a:pt x="35528" y="35527"/>
                  </a:lnTo>
                  <a:close/>
                  <a:moveTo>
                    <a:pt x="59213" y="71055"/>
                  </a:moveTo>
                  <a:cubicBezTo>
                    <a:pt x="52634" y="71055"/>
                    <a:pt x="47370" y="65792"/>
                    <a:pt x="47370" y="59213"/>
                  </a:cubicBezTo>
                  <a:cubicBezTo>
                    <a:pt x="47370" y="52634"/>
                    <a:pt x="52634" y="47370"/>
                    <a:pt x="59213" y="47370"/>
                  </a:cubicBezTo>
                  <a:cubicBezTo>
                    <a:pt x="65792" y="47370"/>
                    <a:pt x="71055" y="52634"/>
                    <a:pt x="71055" y="59213"/>
                  </a:cubicBezTo>
                  <a:cubicBezTo>
                    <a:pt x="71055" y="65792"/>
                    <a:pt x="65792" y="71055"/>
                    <a:pt x="59213" y="71055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7" name="Google Shape;347;p40"/>
            <p:cNvSpPr/>
            <p:nvPr/>
          </p:nvSpPr>
          <p:spPr>
            <a:xfrm>
              <a:off x="1138572" y="4854054"/>
              <a:ext cx="62810" cy="122023"/>
            </a:xfrm>
            <a:custGeom>
              <a:rect b="b" l="l" r="r" t="t"/>
              <a:pathLst>
                <a:path extrusionOk="0" h="122023" w="62810">
                  <a:moveTo>
                    <a:pt x="2632" y="84872"/>
                  </a:moveTo>
                  <a:lnTo>
                    <a:pt x="50002" y="120400"/>
                  </a:lnTo>
                  <a:cubicBezTo>
                    <a:pt x="53292" y="123031"/>
                    <a:pt x="58555" y="122373"/>
                    <a:pt x="61187" y="119084"/>
                  </a:cubicBezTo>
                  <a:cubicBezTo>
                    <a:pt x="63818" y="115794"/>
                    <a:pt x="63160" y="110531"/>
                    <a:pt x="59871" y="107899"/>
                  </a:cubicBezTo>
                  <a:lnTo>
                    <a:pt x="15790" y="75003"/>
                  </a:lnTo>
                  <a:lnTo>
                    <a:pt x="15790" y="7895"/>
                  </a:lnTo>
                  <a:cubicBezTo>
                    <a:pt x="15790" y="3290"/>
                    <a:pt x="12500" y="0"/>
                    <a:pt x="7895" y="0"/>
                  </a:cubicBezTo>
                  <a:cubicBezTo>
                    <a:pt x="3290" y="0"/>
                    <a:pt x="0" y="3290"/>
                    <a:pt x="0" y="7895"/>
                  </a:cubicBezTo>
                  <a:lnTo>
                    <a:pt x="0" y="78950"/>
                  </a:lnTo>
                  <a:cubicBezTo>
                    <a:pt x="0" y="81582"/>
                    <a:pt x="658" y="83556"/>
                    <a:pt x="2632" y="84872"/>
                  </a:cubicBezTo>
                  <a:lnTo>
                    <a:pt x="2632" y="848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8" name="Google Shape;348;p40"/>
            <p:cNvSpPr/>
            <p:nvPr/>
          </p:nvSpPr>
          <p:spPr>
            <a:xfrm>
              <a:off x="1016115" y="4810632"/>
              <a:ext cx="252067" cy="236211"/>
            </a:xfrm>
            <a:custGeom>
              <a:rect b="b" l="l" r="r" t="t"/>
              <a:pathLst>
                <a:path extrusionOk="0" h="236211" w="252067">
                  <a:moveTo>
                    <a:pt x="134300" y="0"/>
                  </a:moveTo>
                  <a:cubicBezTo>
                    <a:pt x="76403" y="0"/>
                    <a:pt x="27717" y="41449"/>
                    <a:pt x="17848" y="98688"/>
                  </a:cubicBezTo>
                  <a:lnTo>
                    <a:pt x="14558" y="94082"/>
                  </a:lnTo>
                  <a:cubicBezTo>
                    <a:pt x="11927" y="90793"/>
                    <a:pt x="7321" y="89477"/>
                    <a:pt x="3374" y="92109"/>
                  </a:cubicBezTo>
                  <a:cubicBezTo>
                    <a:pt x="84" y="94741"/>
                    <a:pt x="-1232" y="99346"/>
                    <a:pt x="1400" y="103294"/>
                  </a:cubicBezTo>
                  <a:lnTo>
                    <a:pt x="17190" y="126978"/>
                  </a:lnTo>
                  <a:cubicBezTo>
                    <a:pt x="18506" y="128952"/>
                    <a:pt x="20480" y="130268"/>
                    <a:pt x="23111" y="130268"/>
                  </a:cubicBezTo>
                  <a:lnTo>
                    <a:pt x="23769" y="130268"/>
                  </a:lnTo>
                  <a:cubicBezTo>
                    <a:pt x="25743" y="130268"/>
                    <a:pt x="27717" y="129610"/>
                    <a:pt x="29033" y="127637"/>
                  </a:cubicBezTo>
                  <a:lnTo>
                    <a:pt x="48770" y="107899"/>
                  </a:lnTo>
                  <a:cubicBezTo>
                    <a:pt x="52060" y="104609"/>
                    <a:pt x="52060" y="100004"/>
                    <a:pt x="48770" y="96714"/>
                  </a:cubicBezTo>
                  <a:cubicBezTo>
                    <a:pt x="45481" y="93425"/>
                    <a:pt x="40875" y="93425"/>
                    <a:pt x="37586" y="96714"/>
                  </a:cubicBezTo>
                  <a:lnTo>
                    <a:pt x="32980" y="101320"/>
                  </a:lnTo>
                  <a:cubicBezTo>
                    <a:pt x="42191" y="45397"/>
                    <a:pt x="94825" y="7895"/>
                    <a:pt x="150748" y="16448"/>
                  </a:cubicBezTo>
                  <a:cubicBezTo>
                    <a:pt x="206671" y="25659"/>
                    <a:pt x="244172" y="78293"/>
                    <a:pt x="235619" y="134216"/>
                  </a:cubicBezTo>
                  <a:cubicBezTo>
                    <a:pt x="227724" y="183560"/>
                    <a:pt x="184960" y="220403"/>
                    <a:pt x="134300" y="220403"/>
                  </a:cubicBezTo>
                  <a:cubicBezTo>
                    <a:pt x="102720" y="221061"/>
                    <a:pt x="72455" y="205929"/>
                    <a:pt x="54034" y="180270"/>
                  </a:cubicBezTo>
                  <a:cubicBezTo>
                    <a:pt x="51402" y="176981"/>
                    <a:pt x="46796" y="175665"/>
                    <a:pt x="42849" y="178296"/>
                  </a:cubicBezTo>
                  <a:cubicBezTo>
                    <a:pt x="39559" y="180928"/>
                    <a:pt x="38243" y="185534"/>
                    <a:pt x="40875" y="189481"/>
                  </a:cubicBezTo>
                  <a:cubicBezTo>
                    <a:pt x="62587" y="219087"/>
                    <a:pt x="97456" y="236851"/>
                    <a:pt x="133642" y="236193"/>
                  </a:cubicBezTo>
                  <a:cubicBezTo>
                    <a:pt x="198776" y="236193"/>
                    <a:pt x="252067" y="183560"/>
                    <a:pt x="252067" y="117768"/>
                  </a:cubicBezTo>
                  <a:cubicBezTo>
                    <a:pt x="252067" y="51976"/>
                    <a:pt x="199434" y="0"/>
                    <a:pt x="134300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49" name="Google Shape;349;p40"/>
            <p:cNvSpPr/>
            <p:nvPr/>
          </p:nvSpPr>
          <p:spPr>
            <a:xfrm>
              <a:off x="954355" y="2365801"/>
              <a:ext cx="437516" cy="6579"/>
            </a:xfrm>
            <a:custGeom>
              <a:rect b="b" l="l" r="r" t="t"/>
              <a:pathLst>
                <a:path extrusionOk="0" h="6579" w="437516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noFill/>
            <a:ln cap="flat" cmpd="sng" w="9525">
              <a:solidFill>
                <a:srgbClr val="B3B3B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/>
          <p:nvPr/>
        </p:nvSpPr>
        <p:spPr>
          <a:xfrm>
            <a:off x="3384107" y="2156252"/>
            <a:ext cx="2867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Thanks !</a:t>
            </a:r>
            <a:endParaRPr sz="50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355" name="Google Shape;355;p41"/>
          <p:cNvGrpSpPr/>
          <p:nvPr/>
        </p:nvGrpSpPr>
        <p:grpSpPr>
          <a:xfrm>
            <a:off x="582930" y="1187651"/>
            <a:ext cx="571500" cy="2768175"/>
            <a:chOff x="777240" y="1582876"/>
            <a:chExt cx="762000" cy="3690900"/>
          </a:xfrm>
        </p:grpSpPr>
        <p:sp>
          <p:nvSpPr>
            <p:cNvPr id="356" name="Google Shape;356;p41"/>
            <p:cNvSpPr/>
            <p:nvPr/>
          </p:nvSpPr>
          <p:spPr>
            <a:xfrm>
              <a:off x="777240" y="1582876"/>
              <a:ext cx="762000" cy="3690900"/>
            </a:xfrm>
            <a:prstGeom prst="roundRect">
              <a:avLst>
                <a:gd fmla="val 2066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996462" y="1812491"/>
              <a:ext cx="318433" cy="318433"/>
            </a:xfrm>
            <a:custGeom>
              <a:rect b="b" l="l" r="r" t="t"/>
              <a:pathLst>
                <a:path extrusionOk="0" h="318433" w="318433">
                  <a:moveTo>
                    <a:pt x="159217" y="0"/>
                  </a:moveTo>
                  <a:cubicBezTo>
                    <a:pt x="71055" y="0"/>
                    <a:pt x="0" y="71713"/>
                    <a:pt x="0" y="159217"/>
                  </a:cubicBezTo>
                  <a:cubicBezTo>
                    <a:pt x="0" y="247378"/>
                    <a:pt x="71713" y="318433"/>
                    <a:pt x="159217" y="318433"/>
                  </a:cubicBezTo>
                  <a:cubicBezTo>
                    <a:pt x="247378" y="318433"/>
                    <a:pt x="318433" y="246720"/>
                    <a:pt x="318433" y="159217"/>
                  </a:cubicBezTo>
                  <a:cubicBezTo>
                    <a:pt x="318433" y="71713"/>
                    <a:pt x="247378" y="0"/>
                    <a:pt x="159217" y="0"/>
                  </a:cubicBezTo>
                  <a:close/>
                  <a:moveTo>
                    <a:pt x="232246" y="230272"/>
                  </a:moveTo>
                  <a:cubicBezTo>
                    <a:pt x="229614" y="234877"/>
                    <a:pt x="223035" y="236193"/>
                    <a:pt x="218429" y="233561"/>
                  </a:cubicBezTo>
                  <a:cubicBezTo>
                    <a:pt x="180928" y="210534"/>
                    <a:pt x="134216" y="205271"/>
                    <a:pt x="78292" y="218429"/>
                  </a:cubicBezTo>
                  <a:cubicBezTo>
                    <a:pt x="73029" y="219745"/>
                    <a:pt x="67766" y="216456"/>
                    <a:pt x="66450" y="211192"/>
                  </a:cubicBezTo>
                  <a:cubicBezTo>
                    <a:pt x="65134" y="205929"/>
                    <a:pt x="68424" y="200666"/>
                    <a:pt x="73687" y="199350"/>
                  </a:cubicBezTo>
                  <a:cubicBezTo>
                    <a:pt x="134216" y="185533"/>
                    <a:pt x="186849" y="191455"/>
                    <a:pt x="228298" y="217113"/>
                  </a:cubicBezTo>
                  <a:cubicBezTo>
                    <a:pt x="233562" y="219087"/>
                    <a:pt x="234877" y="225009"/>
                    <a:pt x="232246" y="230272"/>
                  </a:cubicBezTo>
                  <a:cubicBezTo>
                    <a:pt x="232246" y="230272"/>
                    <a:pt x="232246" y="230272"/>
                    <a:pt x="232246" y="230272"/>
                  </a:cubicBezTo>
                  <a:lnTo>
                    <a:pt x="232246" y="230272"/>
                  </a:lnTo>
                  <a:close/>
                  <a:moveTo>
                    <a:pt x="251983" y="186849"/>
                  </a:moveTo>
                  <a:cubicBezTo>
                    <a:pt x="248694" y="192771"/>
                    <a:pt x="240799" y="194744"/>
                    <a:pt x="234877" y="190797"/>
                  </a:cubicBezTo>
                  <a:cubicBezTo>
                    <a:pt x="192113" y="164480"/>
                    <a:pt x="126979" y="156585"/>
                    <a:pt x="76319" y="172375"/>
                  </a:cubicBezTo>
                  <a:cubicBezTo>
                    <a:pt x="69740" y="174349"/>
                    <a:pt x="62502" y="170401"/>
                    <a:pt x="61187" y="164480"/>
                  </a:cubicBezTo>
                  <a:cubicBezTo>
                    <a:pt x="59213" y="157901"/>
                    <a:pt x="63160" y="150664"/>
                    <a:pt x="69740" y="149348"/>
                  </a:cubicBezTo>
                  <a:cubicBezTo>
                    <a:pt x="127636" y="131584"/>
                    <a:pt x="199350" y="140137"/>
                    <a:pt x="248694" y="170401"/>
                  </a:cubicBezTo>
                  <a:cubicBezTo>
                    <a:pt x="253957" y="173033"/>
                    <a:pt x="255273" y="180928"/>
                    <a:pt x="251983" y="186849"/>
                  </a:cubicBezTo>
                  <a:lnTo>
                    <a:pt x="251983" y="186849"/>
                  </a:lnTo>
                  <a:close/>
                  <a:moveTo>
                    <a:pt x="253299" y="141453"/>
                  </a:moveTo>
                  <a:cubicBezTo>
                    <a:pt x="201981" y="111188"/>
                    <a:pt x="117110" y="107899"/>
                    <a:pt x="67766" y="123031"/>
                  </a:cubicBezTo>
                  <a:cubicBezTo>
                    <a:pt x="59871" y="125663"/>
                    <a:pt x="51318" y="121057"/>
                    <a:pt x="49344" y="113162"/>
                  </a:cubicBezTo>
                  <a:cubicBezTo>
                    <a:pt x="46712" y="105267"/>
                    <a:pt x="51318" y="96714"/>
                    <a:pt x="59213" y="94740"/>
                  </a:cubicBezTo>
                  <a:cubicBezTo>
                    <a:pt x="115794" y="77635"/>
                    <a:pt x="209219" y="80924"/>
                    <a:pt x="268431" y="115794"/>
                  </a:cubicBezTo>
                  <a:cubicBezTo>
                    <a:pt x="275668" y="119741"/>
                    <a:pt x="277642" y="128952"/>
                    <a:pt x="273695" y="136189"/>
                  </a:cubicBezTo>
                  <a:cubicBezTo>
                    <a:pt x="269747" y="143427"/>
                    <a:pt x="260536" y="145400"/>
                    <a:pt x="253299" y="141453"/>
                  </a:cubicBezTo>
                  <a:lnTo>
                    <a:pt x="253299" y="14145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58" name="Google Shape;358;p41"/>
            <p:cNvSpPr/>
            <p:nvPr/>
          </p:nvSpPr>
          <p:spPr>
            <a:xfrm>
              <a:off x="1035279" y="3714537"/>
              <a:ext cx="238167" cy="237509"/>
            </a:xfrm>
            <a:custGeom>
              <a:rect b="b" l="l" r="r" t="t"/>
              <a:pathLst>
                <a:path extrusionOk="0" h="237509" w="238167">
                  <a:moveTo>
                    <a:pt x="226324" y="237509"/>
                  </a:moveTo>
                  <a:lnTo>
                    <a:pt x="149348" y="237509"/>
                  </a:lnTo>
                  <a:cubicBezTo>
                    <a:pt x="144084" y="237509"/>
                    <a:pt x="139479" y="232904"/>
                    <a:pt x="139479" y="227640"/>
                  </a:cubicBezTo>
                  <a:lnTo>
                    <a:pt x="139479" y="179612"/>
                  </a:lnTo>
                  <a:cubicBezTo>
                    <a:pt x="139479" y="167770"/>
                    <a:pt x="129610" y="157901"/>
                    <a:pt x="117768" y="157901"/>
                  </a:cubicBezTo>
                  <a:cubicBezTo>
                    <a:pt x="105925" y="157901"/>
                    <a:pt x="96056" y="167770"/>
                    <a:pt x="96056" y="179612"/>
                  </a:cubicBezTo>
                  <a:lnTo>
                    <a:pt x="96056" y="227640"/>
                  </a:lnTo>
                  <a:cubicBezTo>
                    <a:pt x="96056" y="232904"/>
                    <a:pt x="91451" y="237509"/>
                    <a:pt x="86188" y="237509"/>
                  </a:cubicBezTo>
                  <a:lnTo>
                    <a:pt x="9869" y="237509"/>
                  </a:lnTo>
                  <a:cubicBezTo>
                    <a:pt x="4605" y="237509"/>
                    <a:pt x="0" y="232904"/>
                    <a:pt x="0" y="227640"/>
                  </a:cubicBezTo>
                  <a:lnTo>
                    <a:pt x="0" y="98030"/>
                  </a:lnTo>
                  <a:cubicBezTo>
                    <a:pt x="0" y="88819"/>
                    <a:pt x="4605" y="80266"/>
                    <a:pt x="11843" y="75003"/>
                  </a:cubicBezTo>
                  <a:lnTo>
                    <a:pt x="113162" y="1974"/>
                  </a:lnTo>
                  <a:cubicBezTo>
                    <a:pt x="116452" y="-658"/>
                    <a:pt x="121057" y="-658"/>
                    <a:pt x="125005" y="1974"/>
                  </a:cubicBezTo>
                  <a:lnTo>
                    <a:pt x="226324" y="75003"/>
                  </a:lnTo>
                  <a:cubicBezTo>
                    <a:pt x="233562" y="80266"/>
                    <a:pt x="238167" y="88819"/>
                    <a:pt x="238167" y="98030"/>
                  </a:cubicBezTo>
                  <a:lnTo>
                    <a:pt x="238167" y="227640"/>
                  </a:lnTo>
                  <a:cubicBezTo>
                    <a:pt x="236193" y="232904"/>
                    <a:pt x="231588" y="237509"/>
                    <a:pt x="226324" y="237509"/>
                  </a:cubicBezTo>
                  <a:lnTo>
                    <a:pt x="226324" y="237509"/>
                  </a:lnTo>
                  <a:close/>
                  <a:moveTo>
                    <a:pt x="159217" y="217772"/>
                  </a:moveTo>
                  <a:lnTo>
                    <a:pt x="217114" y="217772"/>
                  </a:lnTo>
                  <a:lnTo>
                    <a:pt x="217114" y="98030"/>
                  </a:lnTo>
                  <a:cubicBezTo>
                    <a:pt x="217114" y="95399"/>
                    <a:pt x="215798" y="92767"/>
                    <a:pt x="213824" y="91451"/>
                  </a:cubicBezTo>
                  <a:lnTo>
                    <a:pt x="118426" y="22369"/>
                  </a:lnTo>
                  <a:lnTo>
                    <a:pt x="23027" y="90793"/>
                  </a:lnTo>
                  <a:cubicBezTo>
                    <a:pt x="21053" y="92109"/>
                    <a:pt x="19738" y="94740"/>
                    <a:pt x="19738" y="97372"/>
                  </a:cubicBezTo>
                  <a:lnTo>
                    <a:pt x="19738" y="217114"/>
                  </a:lnTo>
                  <a:lnTo>
                    <a:pt x="77635" y="217114"/>
                  </a:lnTo>
                  <a:lnTo>
                    <a:pt x="77635" y="178954"/>
                  </a:lnTo>
                  <a:cubicBezTo>
                    <a:pt x="77635" y="155927"/>
                    <a:pt x="96056" y="137505"/>
                    <a:pt x="119083" y="137505"/>
                  </a:cubicBezTo>
                  <a:cubicBezTo>
                    <a:pt x="142111" y="137505"/>
                    <a:pt x="160532" y="155927"/>
                    <a:pt x="160532" y="178954"/>
                  </a:cubicBezTo>
                  <a:lnTo>
                    <a:pt x="160532" y="2177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59" name="Google Shape;359;p41"/>
            <p:cNvSpPr/>
            <p:nvPr/>
          </p:nvSpPr>
          <p:spPr>
            <a:xfrm>
              <a:off x="1039884" y="4262585"/>
              <a:ext cx="238167" cy="238167"/>
            </a:xfrm>
            <a:custGeom>
              <a:rect b="b" l="l" r="r" t="t"/>
              <a:pathLst>
                <a:path extrusionOk="0" h="238167" w="238167">
                  <a:moveTo>
                    <a:pt x="119084" y="0"/>
                  </a:moveTo>
                  <a:cubicBezTo>
                    <a:pt x="53292" y="0"/>
                    <a:pt x="0" y="53291"/>
                    <a:pt x="0" y="119083"/>
                  </a:cubicBezTo>
                  <a:cubicBezTo>
                    <a:pt x="0" y="184875"/>
                    <a:pt x="53292" y="238167"/>
                    <a:pt x="119084" y="238167"/>
                  </a:cubicBezTo>
                  <a:cubicBezTo>
                    <a:pt x="184876" y="238167"/>
                    <a:pt x="238167" y="184875"/>
                    <a:pt x="238167" y="119083"/>
                  </a:cubicBezTo>
                  <a:cubicBezTo>
                    <a:pt x="237509" y="53291"/>
                    <a:pt x="184218" y="0"/>
                    <a:pt x="119084" y="0"/>
                  </a:cubicBezTo>
                  <a:close/>
                  <a:moveTo>
                    <a:pt x="119084" y="220403"/>
                  </a:moveTo>
                  <a:cubicBezTo>
                    <a:pt x="63160" y="220403"/>
                    <a:pt x="17106" y="175007"/>
                    <a:pt x="17106" y="118426"/>
                  </a:cubicBezTo>
                  <a:cubicBezTo>
                    <a:pt x="17106" y="61844"/>
                    <a:pt x="62502" y="16448"/>
                    <a:pt x="119084" y="16448"/>
                  </a:cubicBezTo>
                  <a:cubicBezTo>
                    <a:pt x="175007" y="16448"/>
                    <a:pt x="221061" y="61844"/>
                    <a:pt x="221061" y="118426"/>
                  </a:cubicBezTo>
                  <a:cubicBezTo>
                    <a:pt x="221061" y="175007"/>
                    <a:pt x="175007" y="220403"/>
                    <a:pt x="119084" y="220403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0" name="Google Shape;360;p41"/>
            <p:cNvSpPr/>
            <p:nvPr/>
          </p:nvSpPr>
          <p:spPr>
            <a:xfrm>
              <a:off x="1099755" y="4321797"/>
              <a:ext cx="119083" cy="119083"/>
            </a:xfrm>
            <a:custGeom>
              <a:rect b="b" l="l" r="r" t="t"/>
              <a:pathLst>
                <a:path extrusionOk="0" h="119083" w="119083">
                  <a:moveTo>
                    <a:pt x="35528" y="35527"/>
                  </a:moveTo>
                  <a:lnTo>
                    <a:pt x="0" y="119083"/>
                  </a:lnTo>
                  <a:lnTo>
                    <a:pt x="83556" y="83556"/>
                  </a:lnTo>
                  <a:lnTo>
                    <a:pt x="119084" y="0"/>
                  </a:lnTo>
                  <a:lnTo>
                    <a:pt x="35528" y="35527"/>
                  </a:lnTo>
                  <a:close/>
                  <a:moveTo>
                    <a:pt x="59213" y="71055"/>
                  </a:moveTo>
                  <a:cubicBezTo>
                    <a:pt x="52634" y="71055"/>
                    <a:pt x="47370" y="65792"/>
                    <a:pt x="47370" y="59213"/>
                  </a:cubicBezTo>
                  <a:cubicBezTo>
                    <a:pt x="47370" y="52634"/>
                    <a:pt x="52634" y="47370"/>
                    <a:pt x="59213" y="47370"/>
                  </a:cubicBezTo>
                  <a:cubicBezTo>
                    <a:pt x="65792" y="47370"/>
                    <a:pt x="71055" y="52634"/>
                    <a:pt x="71055" y="59213"/>
                  </a:cubicBezTo>
                  <a:cubicBezTo>
                    <a:pt x="71055" y="65792"/>
                    <a:pt x="65792" y="71055"/>
                    <a:pt x="59213" y="71055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1" name="Google Shape;361;p41"/>
            <p:cNvSpPr/>
            <p:nvPr/>
          </p:nvSpPr>
          <p:spPr>
            <a:xfrm>
              <a:off x="1138572" y="4854054"/>
              <a:ext cx="62810" cy="122023"/>
            </a:xfrm>
            <a:custGeom>
              <a:rect b="b" l="l" r="r" t="t"/>
              <a:pathLst>
                <a:path extrusionOk="0" h="122023" w="62810">
                  <a:moveTo>
                    <a:pt x="2632" y="84872"/>
                  </a:moveTo>
                  <a:lnTo>
                    <a:pt x="50002" y="120400"/>
                  </a:lnTo>
                  <a:cubicBezTo>
                    <a:pt x="53292" y="123031"/>
                    <a:pt x="58555" y="122373"/>
                    <a:pt x="61187" y="119084"/>
                  </a:cubicBezTo>
                  <a:cubicBezTo>
                    <a:pt x="63818" y="115794"/>
                    <a:pt x="63160" y="110531"/>
                    <a:pt x="59871" y="107899"/>
                  </a:cubicBezTo>
                  <a:lnTo>
                    <a:pt x="15790" y="75003"/>
                  </a:lnTo>
                  <a:lnTo>
                    <a:pt x="15790" y="7895"/>
                  </a:lnTo>
                  <a:cubicBezTo>
                    <a:pt x="15790" y="3290"/>
                    <a:pt x="12500" y="0"/>
                    <a:pt x="7895" y="0"/>
                  </a:cubicBezTo>
                  <a:cubicBezTo>
                    <a:pt x="3290" y="0"/>
                    <a:pt x="0" y="3290"/>
                    <a:pt x="0" y="7895"/>
                  </a:cubicBezTo>
                  <a:lnTo>
                    <a:pt x="0" y="78950"/>
                  </a:lnTo>
                  <a:cubicBezTo>
                    <a:pt x="0" y="81582"/>
                    <a:pt x="658" y="83556"/>
                    <a:pt x="2632" y="84872"/>
                  </a:cubicBezTo>
                  <a:lnTo>
                    <a:pt x="2632" y="84872"/>
                  </a:ln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2" name="Google Shape;362;p41"/>
            <p:cNvSpPr/>
            <p:nvPr/>
          </p:nvSpPr>
          <p:spPr>
            <a:xfrm>
              <a:off x="1016115" y="4810632"/>
              <a:ext cx="252067" cy="236211"/>
            </a:xfrm>
            <a:custGeom>
              <a:rect b="b" l="l" r="r" t="t"/>
              <a:pathLst>
                <a:path extrusionOk="0" h="236211" w="252067">
                  <a:moveTo>
                    <a:pt x="134300" y="0"/>
                  </a:moveTo>
                  <a:cubicBezTo>
                    <a:pt x="76403" y="0"/>
                    <a:pt x="27717" y="41449"/>
                    <a:pt x="17848" y="98688"/>
                  </a:cubicBezTo>
                  <a:lnTo>
                    <a:pt x="14558" y="94082"/>
                  </a:lnTo>
                  <a:cubicBezTo>
                    <a:pt x="11927" y="90793"/>
                    <a:pt x="7321" y="89477"/>
                    <a:pt x="3374" y="92109"/>
                  </a:cubicBezTo>
                  <a:cubicBezTo>
                    <a:pt x="84" y="94741"/>
                    <a:pt x="-1232" y="99346"/>
                    <a:pt x="1400" y="103294"/>
                  </a:cubicBezTo>
                  <a:lnTo>
                    <a:pt x="17190" y="126978"/>
                  </a:lnTo>
                  <a:cubicBezTo>
                    <a:pt x="18506" y="128952"/>
                    <a:pt x="20480" y="130268"/>
                    <a:pt x="23111" y="130268"/>
                  </a:cubicBezTo>
                  <a:lnTo>
                    <a:pt x="23769" y="130268"/>
                  </a:lnTo>
                  <a:cubicBezTo>
                    <a:pt x="25743" y="130268"/>
                    <a:pt x="27717" y="129610"/>
                    <a:pt x="29033" y="127637"/>
                  </a:cubicBezTo>
                  <a:lnTo>
                    <a:pt x="48770" y="107899"/>
                  </a:lnTo>
                  <a:cubicBezTo>
                    <a:pt x="52060" y="104609"/>
                    <a:pt x="52060" y="100004"/>
                    <a:pt x="48770" y="96714"/>
                  </a:cubicBezTo>
                  <a:cubicBezTo>
                    <a:pt x="45481" y="93425"/>
                    <a:pt x="40875" y="93425"/>
                    <a:pt x="37586" y="96714"/>
                  </a:cubicBezTo>
                  <a:lnTo>
                    <a:pt x="32980" y="101320"/>
                  </a:lnTo>
                  <a:cubicBezTo>
                    <a:pt x="42191" y="45397"/>
                    <a:pt x="94825" y="7895"/>
                    <a:pt x="150748" y="16448"/>
                  </a:cubicBezTo>
                  <a:cubicBezTo>
                    <a:pt x="206671" y="25659"/>
                    <a:pt x="244172" y="78293"/>
                    <a:pt x="235619" y="134216"/>
                  </a:cubicBezTo>
                  <a:cubicBezTo>
                    <a:pt x="227724" y="183560"/>
                    <a:pt x="184960" y="220403"/>
                    <a:pt x="134300" y="220403"/>
                  </a:cubicBezTo>
                  <a:cubicBezTo>
                    <a:pt x="102720" y="221061"/>
                    <a:pt x="72455" y="205929"/>
                    <a:pt x="54034" y="180270"/>
                  </a:cubicBezTo>
                  <a:cubicBezTo>
                    <a:pt x="51402" y="176981"/>
                    <a:pt x="46796" y="175665"/>
                    <a:pt x="42849" y="178296"/>
                  </a:cubicBezTo>
                  <a:cubicBezTo>
                    <a:pt x="39559" y="180928"/>
                    <a:pt x="38243" y="185534"/>
                    <a:pt x="40875" y="189481"/>
                  </a:cubicBezTo>
                  <a:cubicBezTo>
                    <a:pt x="62587" y="219087"/>
                    <a:pt x="97456" y="236851"/>
                    <a:pt x="133642" y="236193"/>
                  </a:cubicBezTo>
                  <a:cubicBezTo>
                    <a:pt x="198776" y="236193"/>
                    <a:pt x="252067" y="183560"/>
                    <a:pt x="252067" y="117768"/>
                  </a:cubicBezTo>
                  <a:cubicBezTo>
                    <a:pt x="252067" y="51976"/>
                    <a:pt x="199434" y="0"/>
                    <a:pt x="134300" y="0"/>
                  </a:cubicBezTo>
                  <a:close/>
                </a:path>
              </a:pathLst>
            </a:custGeom>
            <a:solidFill>
              <a:srgbClr val="B3B3B3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954355" y="2365801"/>
              <a:ext cx="437516" cy="6579"/>
            </a:xfrm>
            <a:custGeom>
              <a:rect b="b" l="l" r="r" t="t"/>
              <a:pathLst>
                <a:path extrusionOk="0" h="6579" w="437516">
                  <a:moveTo>
                    <a:pt x="0" y="0"/>
                  </a:moveTo>
                  <a:lnTo>
                    <a:pt x="437517" y="0"/>
                  </a:lnTo>
                </a:path>
              </a:pathLst>
            </a:custGeom>
            <a:noFill/>
            <a:ln cap="flat" cmpd="sng" w="9525">
              <a:solidFill>
                <a:srgbClr val="B3B3B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35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BD75F"/>
      </a:accent1>
      <a:accent2>
        <a:srgbClr val="B3B3B3"/>
      </a:accent2>
      <a:accent3>
        <a:srgbClr val="0F0F0F"/>
      </a:accent3>
      <a:accent4>
        <a:srgbClr val="090909"/>
      </a:accent4>
      <a:accent5>
        <a:srgbClr val="151515"/>
      </a:accent5>
      <a:accent6>
        <a:srgbClr val="213220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